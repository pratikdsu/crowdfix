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8288000" cy="10287000"/>
  <p:notesSz cx="6858000" cy="9144000"/>
  <p:embeddedFontLst>
    <p:embeddedFont>
      <p:font typeface="SimSun" panose="02010600030101010101" pitchFamily="2" charset="-122"/>
      <p:regular r:id="rId21"/>
    </p:embeddedFont>
    <p:embeddedFont>
      <p:font typeface="Bricolage Grotesque Semi-Bold" panose="020B0605040402000204"/>
      <p:bold r:id="rId22"/>
    </p:embeddedFont>
    <p:embeddedFont>
      <p:font typeface="Bricolage Grotesque Bold" panose="020B0605040402000204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358776" y="1038225"/>
            <a:ext cx="17827624" cy="916543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176" y="823913"/>
            <a:ext cx="18288000" cy="22669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7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3816350" y="3738563"/>
            <a:ext cx="11090276" cy="183356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511300" y="931070"/>
            <a:ext cx="15544800" cy="2205038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3600"/>
            </a:lvl1pPr>
            <a:lvl2pPr marL="685800" indent="0">
              <a:buNone/>
              <a:defRPr sz="3000"/>
            </a:lvl2pPr>
            <a:lvl3pPr marL="1371600" indent="0">
              <a:buNone/>
              <a:defRPr sz="27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547688"/>
            <a:ext cx="15773400" cy="19883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6" y="2521745"/>
            <a:ext cx="7737474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6" y="3757613"/>
            <a:ext cx="7737474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5576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6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6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6" y="1481138"/>
            <a:ext cx="9258300" cy="7310438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176" y="500063"/>
            <a:ext cx="18288000" cy="1514475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7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11595100" y="6657975"/>
            <a:ext cx="6680200" cy="3500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914400" y="2400300"/>
            <a:ext cx="16459200" cy="67889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21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6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514350" indent="-514350" algn="l" rtl="0" fontAlgn="base">
        <a:spcBef>
          <a:spcPct val="30000"/>
        </a:spcBef>
        <a:spcAft>
          <a:spcPct val="0"/>
        </a:spcAft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rtl="0" fontAlgn="base">
        <a:spcBef>
          <a:spcPct val="30000"/>
        </a:spcBef>
        <a:spcAft>
          <a:spcPct val="0"/>
        </a:spcAft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rtl="0" fontAlgn="base">
        <a:spcBef>
          <a:spcPct val="3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rtl="0" fontAlgn="base">
        <a:spcBef>
          <a:spcPct val="30000"/>
        </a:spcBef>
        <a:spcAft>
          <a:spcPct val="0"/>
        </a:spcAft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rtl="0" fontAlgn="base">
        <a:spcBef>
          <a:spcPct val="30000"/>
        </a:spcBef>
        <a:spcAft>
          <a:spcPct val="0"/>
        </a:spcAft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2026285" y="1786890"/>
            <a:ext cx="9878060" cy="39560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en-GB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PROJECT: CROWDFIX</a:t>
            </a:r>
            <a:endParaRPr lang="en-US" altLang="en-GB" sz="72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endParaRPr lang="en-US" altLang="en-GB" sz="72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altLang="en-GB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TEAM MEMBERS</a:t>
            </a:r>
            <a:endParaRPr lang="en-US" altLang="en-GB" sz="72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altLang="en-GB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</a:t>
            </a:r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1, B.K DOL BAHADUR(230191)</a:t>
            </a:r>
            <a:endParaRPr lang="en-US" altLang="en-GB" sz="40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      2, BASNET ANJALI (2301461)     </a:t>
            </a:r>
            <a:endParaRPr lang="en-US" altLang="en-GB" sz="40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3, SAPKOTA PRATIK (230175</a:t>
            </a:r>
            <a:endParaRPr lang="en-US" altLang="en-GB" sz="40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4, BHOTE UMANG(2301515)</a:t>
            </a:r>
            <a:endParaRPr lang="en-US" altLang="en-GB" sz="40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altLang="en-GB" sz="4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                </a:t>
            </a:r>
            <a:r>
              <a:rPr lang="en-US" altLang="en-GB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 </a:t>
            </a:r>
            <a:endParaRPr lang="en-US" altLang="en-GB" sz="72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34675" y="666750"/>
            <a:ext cx="7759788" cy="8953500"/>
            <a:chOff x="0" y="0"/>
            <a:chExt cx="1202194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2194" cy="1387131"/>
            </a:xfrm>
            <a:custGeom>
              <a:avLst/>
              <a:gdLst/>
              <a:ahLst/>
              <a:cxnLst/>
              <a:rect l="l" t="t" r="r" b="b"/>
              <a:pathLst>
                <a:path w="1202194" h="1387131">
                  <a:moveTo>
                    <a:pt x="19954" y="0"/>
                  </a:moveTo>
                  <a:lnTo>
                    <a:pt x="1182240" y="0"/>
                  </a:lnTo>
                  <a:cubicBezTo>
                    <a:pt x="1187532" y="0"/>
                    <a:pt x="1192608" y="2102"/>
                    <a:pt x="1196350" y="5844"/>
                  </a:cubicBezTo>
                  <a:cubicBezTo>
                    <a:pt x="1200092" y="9586"/>
                    <a:pt x="1202194" y="14662"/>
                    <a:pt x="1202194" y="19954"/>
                  </a:cubicBezTo>
                  <a:lnTo>
                    <a:pt x="1202194" y="1367177"/>
                  </a:lnTo>
                  <a:cubicBezTo>
                    <a:pt x="1202194" y="1378198"/>
                    <a:pt x="1193261" y="1387131"/>
                    <a:pt x="1182240" y="1387131"/>
                  </a:cubicBezTo>
                  <a:lnTo>
                    <a:pt x="19954" y="1387131"/>
                  </a:lnTo>
                  <a:cubicBezTo>
                    <a:pt x="8934" y="1387131"/>
                    <a:pt x="0" y="1378198"/>
                    <a:pt x="0" y="1367177"/>
                  </a:cubicBezTo>
                  <a:lnTo>
                    <a:pt x="0" y="19954"/>
                  </a:lnTo>
                  <a:cubicBezTo>
                    <a:pt x="0" y="8934"/>
                    <a:pt x="8934" y="0"/>
                    <a:pt x="19954" y="0"/>
                  </a:cubicBezTo>
                  <a:close/>
                </a:path>
              </a:pathLst>
            </a:custGeom>
            <a:blipFill>
              <a:blip r:embed="rId1"/>
              <a:stretch>
                <a:fillRect t="-169" b="-16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 rot="0">
            <a:off x="666750" y="4844941"/>
            <a:ext cx="9763125" cy="4775309"/>
            <a:chOff x="0" y="0"/>
            <a:chExt cx="13017500" cy="636707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257175"/>
              <a:ext cx="13017500" cy="49413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000"/>
                </a:lnSpc>
                <a:spcBef>
                  <a:spcPct val="0"/>
                </a:spcBef>
              </a:pPr>
              <a:r>
                <a:rPr lang="en-US" sz="14000" b="1" u="none" strike="noStrike" spc="-840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CrowdFix Nepal</a:t>
              </a:r>
              <a:endParaRPr lang="en-US" sz="14000" b="1" u="none" strike="noStrike" spc="-840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104" y="5476261"/>
              <a:ext cx="12742965" cy="890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65"/>
                </a:lnSpc>
              </a:pPr>
              <a:r>
                <a:rPr lang="en-US" sz="4205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Department of Information Security</a:t>
              </a:r>
              <a:endParaRPr lang="en-US" sz="4205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800100"/>
            <a:ext cx="6866887" cy="270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7000" b="1" u="none" strike="noStrike">
                <a:solidFill>
                  <a:srgbClr val="004B8D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rPr>
              <a:t>Community Reporting for Nepal</a:t>
            </a:r>
            <a:endParaRPr lang="en-US" sz="7000" b="1" u="none" strike="noStrike">
              <a:solidFill>
                <a:srgbClr val="004B8D"/>
              </a:solidFill>
              <a:latin typeface="Bricolage Grotesque Bold" panose="020B0605040402000204"/>
              <a:ea typeface="Bricolage Grotesque Bold" panose="020B0605040402000204"/>
              <a:cs typeface="Bricolage Grotesque Bold" panose="020B0605040402000204"/>
              <a:sym typeface="Bricolage Grotesque Bold" panose="020B060504040200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9296400" y="4081462"/>
            <a:ext cx="5448300" cy="1244399"/>
            <a:chOff x="0" y="0"/>
            <a:chExt cx="7264400" cy="1659199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7264400" cy="1066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0"/>
                </a:lnSpc>
                <a:spcBef>
                  <a:spcPct val="0"/>
                </a:spcBef>
              </a:pPr>
              <a:r>
                <a:rPr lang="en-US" sz="266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Empowering Citizens to Report Issues</a:t>
              </a:r>
              <a:endParaRPr lang="en-US" sz="266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89299"/>
              <a:ext cx="7264400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5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Citizens can easily identify problems</a:t>
              </a:r>
              <a:endParaRPr lang="en-US" sz="237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9296400" y="5872162"/>
            <a:ext cx="5448300" cy="1244399"/>
            <a:chOff x="0" y="0"/>
            <a:chExt cx="7264400" cy="1659199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7264400" cy="1066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0"/>
                </a:lnSpc>
                <a:spcBef>
                  <a:spcPct val="0"/>
                </a:spcBef>
              </a:pPr>
              <a:r>
                <a:rPr lang="en-US" sz="266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Streamlined Reporting Process for Authorities</a:t>
              </a:r>
              <a:endParaRPr lang="en-US" sz="266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89299"/>
              <a:ext cx="7264400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5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Reports are routed to relevant offices</a:t>
              </a:r>
              <a:endParaRPr lang="en-US" sz="237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9296400" y="7662862"/>
            <a:ext cx="5448300" cy="1244399"/>
            <a:chOff x="0" y="0"/>
            <a:chExt cx="7264400" cy="165919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7264400" cy="1066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0"/>
                </a:lnSpc>
                <a:spcBef>
                  <a:spcPct val="0"/>
                </a:spcBef>
              </a:pPr>
              <a:r>
                <a:rPr lang="en-US" sz="266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Enhancing Civic Engagement and Transparency</a:t>
              </a:r>
              <a:endParaRPr lang="en-US" sz="266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89299"/>
              <a:ext cx="7264400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5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Upvotes prioritize community concerns</a:t>
              </a:r>
              <a:endParaRPr lang="en-US" sz="237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1182" cy="1685373"/>
            </a:xfrm>
            <a:custGeom>
              <a:avLst/>
              <a:gdLst/>
              <a:ahLst/>
              <a:cxnLst/>
              <a:rect l="l" t="t" r="r" b="b"/>
              <a:pathLst>
                <a:path w="1261182" h="1685373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1"/>
              <a:stretch>
                <a:fillRect t="-391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0100"/>
            <a:ext cx="1551622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</a:pPr>
            <a:r>
              <a:rPr lang="en-US" sz="7000" b="1">
                <a:solidFill>
                  <a:srgbClr val="004B8D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rPr>
              <a:t>Key Features of CrowdFix Nepal</a:t>
            </a:r>
            <a:endParaRPr lang="en-US" sz="7000" b="1">
              <a:solidFill>
                <a:srgbClr val="004B8D"/>
              </a:solidFill>
              <a:latin typeface="Bricolage Grotesque Bold" panose="020B0605040402000204"/>
              <a:ea typeface="Bricolage Grotesque Bold" panose="020B0605040402000204"/>
              <a:cs typeface="Bricolage Grotesque Bold" panose="020B0605040402000204"/>
              <a:sym typeface="Bricolage Grotesque Bold" panose="020B060504040200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6750" y="4248150"/>
            <a:ext cx="4010025" cy="1672590"/>
            <a:chOff x="0" y="0"/>
            <a:chExt cx="5346700" cy="223012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53103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Geotagging</a:t>
              </a:r>
              <a:endParaRPr lang="en-US" sz="300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46175"/>
              <a:ext cx="53467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Reports are linked to specific locations.</a:t>
              </a:r>
              <a:endParaRPr lang="en-US" sz="240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6422685" y="4248150"/>
            <a:ext cx="4007190" cy="2129790"/>
            <a:chOff x="0" y="0"/>
            <a:chExt cx="5342920" cy="283972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5306642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Community Engagement</a:t>
              </a:r>
              <a:endParaRPr lang="en-US" sz="300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755775"/>
              <a:ext cx="534292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Citizens can upvote and comment on issues.</a:t>
              </a:r>
              <a:endParaRPr lang="en-US" sz="240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66750" y="7829550"/>
            <a:ext cx="4010025" cy="1672590"/>
            <a:chOff x="0" y="0"/>
            <a:chExt cx="5346700" cy="223012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53103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Authority Dashboard</a:t>
              </a:r>
              <a:endParaRPr lang="en-US" sz="300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75"/>
              <a:ext cx="53467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Municipal authorities can manage and track reports.</a:t>
              </a:r>
              <a:endParaRPr lang="en-US" sz="240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6422685" y="7829550"/>
            <a:ext cx="4007190" cy="1672590"/>
            <a:chOff x="0" y="0"/>
            <a:chExt cx="5342920" cy="223012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5306642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Notifications</a:t>
              </a:r>
              <a:endParaRPr lang="en-US" sz="300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46175"/>
              <a:ext cx="534292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Users receive updates on report statuses.</a:t>
              </a:r>
              <a:endParaRPr lang="en-US" sz="240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2172950" y="4248150"/>
            <a:ext cx="4010025" cy="1672590"/>
            <a:chOff x="0" y="0"/>
            <a:chExt cx="5346700" cy="223012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53103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Interactive Map</a:t>
              </a:r>
              <a:endParaRPr lang="en-US" sz="300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46175"/>
              <a:ext cx="53467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Users view all reported issues visually.</a:t>
              </a:r>
              <a:endParaRPr lang="en-US" sz="240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sp>
        <p:nvSpPr>
          <p:cNvPr id="23" name="Freeform 23"/>
          <p:cNvSpPr/>
          <p:nvPr/>
        </p:nvSpPr>
        <p:spPr>
          <a:xfrm>
            <a:off x="666750" y="3362325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66750" y="693420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419850" y="3362325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419850" y="693420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172950" y="3362325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0100"/>
            <a:ext cx="14077950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</a:pPr>
            <a:r>
              <a:rPr lang="en-US" sz="7000" b="1">
                <a:solidFill>
                  <a:srgbClr val="004B8D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rPr>
              <a:t>CrowdFix Nepal: Scope Definition</a:t>
            </a:r>
            <a:endParaRPr lang="en-US" sz="7000" b="1">
              <a:solidFill>
                <a:srgbClr val="004B8D"/>
              </a:solidFill>
              <a:latin typeface="Bricolage Grotesque Bold" panose="020B0605040402000204"/>
              <a:ea typeface="Bricolage Grotesque Bold" panose="020B0605040402000204"/>
              <a:cs typeface="Bricolage Grotesque Bold" panose="020B0605040402000204"/>
              <a:sym typeface="Bricolage Grotesque Bold" panose="020B060504040200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6750" y="5143500"/>
            <a:ext cx="5448300" cy="2291715"/>
            <a:chOff x="0" y="0"/>
            <a:chExt cx="7264400" cy="305562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In Scope</a:t>
              </a:r>
              <a:endParaRPr lang="en-US" sz="3000" b="1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54075"/>
              <a:ext cx="7264400" cy="220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Key features include user registration, geotagged reporting, community interaction, authority dashboards, and notifications.</a:t>
              </a:r>
              <a:endParaRPr lang="en-US" sz="240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6419850" y="5142230"/>
            <a:ext cx="5448300" cy="1872615"/>
            <a:chOff x="0" y="0"/>
            <a:chExt cx="7264400" cy="249682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Out of Scope</a:t>
              </a:r>
              <a:endParaRPr lang="en-US" sz="300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54075"/>
              <a:ext cx="7264400" cy="1642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Future phases exclude integration with legacy systems and AI image classification capabilities.</a:t>
              </a:r>
              <a:endParaRPr lang="en-US" sz="240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6667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198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6667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198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4208181" y="3352800"/>
            <a:ext cx="11200800" cy="3422649"/>
            <a:chOff x="0" y="0"/>
            <a:chExt cx="14934400" cy="456353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207807"/>
              <a:ext cx="123542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Use Case Dynamics</a:t>
              </a:r>
              <a:endParaRPr lang="en-US" sz="3000" b="1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080932"/>
              <a:ext cx="123542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Visual representation of user interactions</a:t>
              </a:r>
              <a:endParaRPr lang="en-US" sz="2400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33350"/>
              <a:ext cx="14934400" cy="246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Understanding User Interactions and Roles</a:t>
              </a:r>
              <a:endParaRPr lang="en-US" sz="7000" b="1" u="none" strike="noStrike" spc="-209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3288823" cy="7342354"/>
          </a:xfrm>
          <a:custGeom>
            <a:avLst/>
            <a:gdLst/>
            <a:ahLst/>
            <a:cxnLst/>
            <a:rect l="l" t="t" r="r" b="b"/>
            <a:pathLst>
              <a:path w="13288823" h="7342354">
                <a:moveTo>
                  <a:pt x="0" y="0"/>
                </a:moveTo>
                <a:lnTo>
                  <a:pt x="13288823" y="0"/>
                </a:lnTo>
                <a:lnTo>
                  <a:pt x="13288823" y="7342354"/>
                </a:lnTo>
                <a:lnTo>
                  <a:pt x="0" y="734235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30" b="-93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6667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19850" y="4248150"/>
            <a:ext cx="1058896" cy="361950"/>
          </a:xfrm>
          <a:custGeom>
            <a:avLst/>
            <a:gdLst/>
            <a:ahLst/>
            <a:cxnLst/>
            <a:rect l="l" t="t" r="r" b="b"/>
            <a:pathLst>
              <a:path w="1058896" h="361950">
                <a:moveTo>
                  <a:pt x="0" y="0"/>
                </a:moveTo>
                <a:lnTo>
                  <a:pt x="1058896" y="0"/>
                </a:lnTo>
                <a:lnTo>
                  <a:pt x="1058896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4318794" y="3432175"/>
            <a:ext cx="10891082" cy="3422649"/>
            <a:chOff x="0" y="0"/>
            <a:chExt cx="14521443" cy="456353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207807"/>
              <a:ext cx="12012589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Visual Representation of System Interactions</a:t>
              </a:r>
              <a:endParaRPr lang="en-US" sz="3000" b="1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080932"/>
              <a:ext cx="12012589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Illustrating entities and data flow connections</a:t>
              </a:r>
              <a:endParaRPr lang="en-US" sz="2400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33350"/>
              <a:ext cx="14521443" cy="246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CrowdFix Nepal Context Diagram</a:t>
              </a:r>
              <a:endParaRPr lang="en-US" sz="7000" b="1" u="none" strike="noStrike" spc="-209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589548" cy="10582387"/>
            <a:chOff x="0" y="0"/>
            <a:chExt cx="2698196" cy="15359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8196" cy="1535990"/>
            </a:xfrm>
            <a:custGeom>
              <a:avLst/>
              <a:gdLst/>
              <a:ahLst/>
              <a:cxnLst/>
              <a:rect l="l" t="t" r="r" b="b"/>
              <a:pathLst>
                <a:path w="2698196" h="1535990">
                  <a:moveTo>
                    <a:pt x="8329" y="0"/>
                  </a:moveTo>
                  <a:lnTo>
                    <a:pt x="2689867" y="0"/>
                  </a:lnTo>
                  <a:cubicBezTo>
                    <a:pt x="2694467" y="0"/>
                    <a:pt x="2698196" y="3729"/>
                    <a:pt x="2698196" y="8329"/>
                  </a:cubicBezTo>
                  <a:lnTo>
                    <a:pt x="2698196" y="1527660"/>
                  </a:lnTo>
                  <a:cubicBezTo>
                    <a:pt x="2698196" y="1529869"/>
                    <a:pt x="2697318" y="1531988"/>
                    <a:pt x="2695756" y="1533550"/>
                  </a:cubicBezTo>
                  <a:cubicBezTo>
                    <a:pt x="2694194" y="1535112"/>
                    <a:pt x="2692076" y="1535990"/>
                    <a:pt x="2689867" y="1535990"/>
                  </a:cubicBezTo>
                  <a:lnTo>
                    <a:pt x="8329" y="1535990"/>
                  </a:lnTo>
                  <a:cubicBezTo>
                    <a:pt x="3729" y="1535990"/>
                    <a:pt x="0" y="1532261"/>
                    <a:pt x="0" y="1527660"/>
                  </a:cubicBezTo>
                  <a:lnTo>
                    <a:pt x="0" y="8329"/>
                  </a:lnTo>
                  <a:cubicBezTo>
                    <a:pt x="0" y="3729"/>
                    <a:pt x="3729" y="0"/>
                    <a:pt x="8329" y="0"/>
                  </a:cubicBezTo>
                  <a:close/>
                </a:path>
              </a:pathLst>
            </a:custGeom>
            <a:blipFill>
              <a:blip r:embed="rId1"/>
              <a:stretch>
                <a:fillRect l="-662" r="-662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76245"/>
            <a:ext cx="12060317" cy="9934510"/>
            <a:chOff x="0" y="0"/>
            <a:chExt cx="1916713" cy="1578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6712" cy="1578864"/>
            </a:xfrm>
            <a:custGeom>
              <a:avLst/>
              <a:gdLst/>
              <a:ahLst/>
              <a:cxnLst/>
              <a:rect l="l" t="t" r="r" b="b"/>
              <a:pathLst>
                <a:path w="1916712" h="1578864">
                  <a:moveTo>
                    <a:pt x="12839" y="0"/>
                  </a:moveTo>
                  <a:lnTo>
                    <a:pt x="1903874" y="0"/>
                  </a:lnTo>
                  <a:cubicBezTo>
                    <a:pt x="1910964" y="0"/>
                    <a:pt x="1916712" y="5748"/>
                    <a:pt x="1916712" y="12839"/>
                  </a:cubicBezTo>
                  <a:lnTo>
                    <a:pt x="1916712" y="1566025"/>
                  </a:lnTo>
                  <a:cubicBezTo>
                    <a:pt x="1916712" y="1573116"/>
                    <a:pt x="1910964" y="1578864"/>
                    <a:pt x="1903874" y="1578864"/>
                  </a:cubicBezTo>
                  <a:lnTo>
                    <a:pt x="12839" y="1578864"/>
                  </a:lnTo>
                  <a:cubicBezTo>
                    <a:pt x="5748" y="1578864"/>
                    <a:pt x="0" y="1573116"/>
                    <a:pt x="0" y="1566025"/>
                  </a:cubicBezTo>
                  <a:lnTo>
                    <a:pt x="0" y="12839"/>
                  </a:lnTo>
                  <a:cubicBezTo>
                    <a:pt x="0" y="5748"/>
                    <a:pt x="5748" y="0"/>
                    <a:pt x="12839" y="0"/>
                  </a:cubicBezTo>
                  <a:close/>
                </a:path>
              </a:pathLst>
            </a:custGeom>
            <a:blipFill>
              <a:blip r:embed="rId1"/>
              <a:stretch>
                <a:fillRect l="-458" r="-45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12805921" y="1908175"/>
            <a:ext cx="4453379" cy="6470649"/>
            <a:chOff x="0" y="0"/>
            <a:chExt cx="5937839" cy="8627532"/>
          </a:xfrm>
        </p:grpSpPr>
        <p:sp>
          <p:nvSpPr>
            <p:cNvPr id="5" name="TextBox 5"/>
            <p:cNvSpPr txBox="1"/>
            <p:nvPr/>
          </p:nvSpPr>
          <p:spPr>
            <a:xfrm>
              <a:off x="0" y="5570007"/>
              <a:ext cx="4911965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Simplified sequence of actions</a:t>
              </a:r>
              <a:endParaRPr lang="en-US" sz="3000" b="1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662332"/>
              <a:ext cx="4911965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Visualizing the steps for effective reporting</a:t>
              </a:r>
              <a:endParaRPr lang="en-US" sz="2400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3350"/>
              <a:ext cx="5937839" cy="482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Report Submission Process Overview</a:t>
              </a:r>
              <a:endParaRPr lang="en-US" sz="7000" b="1" u="none" strike="noStrike" spc="-209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226682"/>
            <a:ext cx="14272586" cy="9833637"/>
            <a:chOff x="0" y="0"/>
            <a:chExt cx="2291571" cy="1578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1571" cy="1578864"/>
            </a:xfrm>
            <a:custGeom>
              <a:avLst/>
              <a:gdLst/>
              <a:ahLst/>
              <a:cxnLst/>
              <a:rect l="l" t="t" r="r" b="b"/>
              <a:pathLst>
                <a:path w="2291571" h="1578864">
                  <a:moveTo>
                    <a:pt x="10849" y="0"/>
                  </a:moveTo>
                  <a:lnTo>
                    <a:pt x="2280722" y="0"/>
                  </a:lnTo>
                  <a:cubicBezTo>
                    <a:pt x="2286714" y="0"/>
                    <a:pt x="2291571" y="4857"/>
                    <a:pt x="2291571" y="10849"/>
                  </a:cubicBezTo>
                  <a:lnTo>
                    <a:pt x="2291571" y="1568015"/>
                  </a:lnTo>
                  <a:cubicBezTo>
                    <a:pt x="2291571" y="1574007"/>
                    <a:pt x="2286714" y="1578864"/>
                    <a:pt x="2280722" y="1578864"/>
                  </a:cubicBezTo>
                  <a:lnTo>
                    <a:pt x="10849" y="1578864"/>
                  </a:lnTo>
                  <a:cubicBezTo>
                    <a:pt x="4857" y="1578864"/>
                    <a:pt x="0" y="1574007"/>
                    <a:pt x="0" y="1568015"/>
                  </a:cubicBezTo>
                  <a:lnTo>
                    <a:pt x="0" y="10849"/>
                  </a:lnTo>
                  <a:cubicBezTo>
                    <a:pt x="0" y="4857"/>
                    <a:pt x="4857" y="0"/>
                    <a:pt x="10849" y="0"/>
                  </a:cubicBezTo>
                  <a:close/>
                </a:path>
              </a:pathLst>
            </a:custGeom>
            <a:blipFill>
              <a:blip r:embed="rId1"/>
              <a:stretch>
                <a:fillRect l="-3409" r="-3409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14409811" y="1731194"/>
            <a:ext cx="3878189" cy="7356474"/>
            <a:chOff x="0" y="0"/>
            <a:chExt cx="5170919" cy="9808632"/>
          </a:xfrm>
        </p:grpSpPr>
        <p:sp>
          <p:nvSpPr>
            <p:cNvPr id="5" name="TextBox 5"/>
            <p:cNvSpPr txBox="1"/>
            <p:nvPr/>
          </p:nvSpPr>
          <p:spPr>
            <a:xfrm>
              <a:off x="0" y="6751107"/>
              <a:ext cx="4277545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Simplified sequence of actions</a:t>
              </a:r>
              <a:endParaRPr lang="en-US" sz="3000" b="1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843432"/>
              <a:ext cx="4277545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Visualizing the steps for effective reporting</a:t>
              </a:r>
              <a:endParaRPr lang="en-US" sz="2400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3350"/>
              <a:ext cx="5170919" cy="6009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Report Submission Process Overview</a:t>
              </a:r>
              <a:endParaRPr lang="en-US" sz="7000" b="1" u="none" strike="noStrike" spc="-209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107" y="266198"/>
            <a:ext cx="9486351" cy="9754603"/>
          </a:xfrm>
          <a:custGeom>
            <a:avLst/>
            <a:gdLst/>
            <a:ahLst/>
            <a:cxnLst/>
            <a:rect l="l" t="t" r="r" b="b"/>
            <a:pathLst>
              <a:path w="9486351" h="9754603">
                <a:moveTo>
                  <a:pt x="0" y="0"/>
                </a:moveTo>
                <a:lnTo>
                  <a:pt x="9486352" y="0"/>
                </a:lnTo>
                <a:lnTo>
                  <a:pt x="9486352" y="9754604"/>
                </a:lnTo>
                <a:lnTo>
                  <a:pt x="0" y="975460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1933777" y="697496"/>
            <a:ext cx="5325523" cy="6375399"/>
            <a:chOff x="0" y="0"/>
            <a:chExt cx="7100697" cy="8500532"/>
          </a:xfrm>
        </p:grpSpPr>
        <p:sp>
          <p:nvSpPr>
            <p:cNvPr id="4" name="TextBox 4"/>
            <p:cNvSpPr txBox="1"/>
            <p:nvPr/>
          </p:nvSpPr>
          <p:spPr>
            <a:xfrm>
              <a:off x="0" y="5570007"/>
              <a:ext cx="5873918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Comprehensive system structure overview</a:t>
              </a:r>
              <a:endParaRPr lang="en-US" sz="3000" b="1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052732"/>
              <a:ext cx="5873918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Visual representation of the </a:t>
              </a:r>
              <a:r>
                <a:rPr lang="en-US" sz="2400" b="1">
                  <a:solidFill>
                    <a:srgbClr val="4A4A4A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client-server architecture</a:t>
              </a:r>
              <a:r>
                <a:rPr lang="en-US" sz="240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 showing all tiers and interactions.</a:t>
              </a:r>
              <a:endParaRPr lang="en-US" sz="2400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33350"/>
              <a:ext cx="7100697" cy="482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CrowdFix Nepal Client-Server Architecture</a:t>
              </a:r>
              <a:endParaRPr lang="en-US" sz="7000" b="1" u="none" strike="noStrike" spc="-209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150" y="377548"/>
            <a:ext cx="10764548" cy="9126197"/>
          </a:xfrm>
          <a:custGeom>
            <a:avLst/>
            <a:gdLst/>
            <a:ahLst/>
            <a:cxnLst/>
            <a:rect l="l" t="t" r="r" b="b"/>
            <a:pathLst>
              <a:path w="10764548" h="9126197">
                <a:moveTo>
                  <a:pt x="0" y="0"/>
                </a:moveTo>
                <a:lnTo>
                  <a:pt x="10764548" y="0"/>
                </a:lnTo>
                <a:lnTo>
                  <a:pt x="10764548" y="9126196"/>
                </a:lnTo>
                <a:lnTo>
                  <a:pt x="0" y="912619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381" r="-1381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2078104" y="967813"/>
            <a:ext cx="4819044" cy="7945666"/>
            <a:chOff x="0" y="0"/>
            <a:chExt cx="6425392" cy="10594221"/>
          </a:xfrm>
        </p:grpSpPr>
        <p:sp>
          <p:nvSpPr>
            <p:cNvPr id="4" name="TextBox 4"/>
            <p:cNvSpPr txBox="1"/>
            <p:nvPr/>
          </p:nvSpPr>
          <p:spPr>
            <a:xfrm>
              <a:off x="0" y="7302102"/>
              <a:ext cx="5315284" cy="1975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0"/>
                </a:lnSpc>
                <a:spcBef>
                  <a:spcPct val="0"/>
                </a:spcBef>
              </a:pPr>
              <a:r>
                <a:rPr lang="en-US" sz="3240" b="1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Visual Representation of Relationships</a:t>
              </a:r>
              <a:endParaRPr lang="en-US" sz="3240" b="1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42191"/>
              <a:ext cx="5315284" cy="1052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0"/>
                </a:lnSpc>
                <a:spcBef>
                  <a:spcPct val="0"/>
                </a:spcBef>
              </a:pPr>
              <a:r>
                <a:rPr lang="en-US" sz="2590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Detailed structure of user and report interactions</a:t>
              </a:r>
              <a:endParaRPr lang="en-US" sz="2590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42875"/>
              <a:ext cx="6425392" cy="6491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60"/>
                </a:lnSpc>
                <a:spcBef>
                  <a:spcPct val="0"/>
                </a:spcBef>
              </a:pPr>
              <a:r>
                <a:rPr lang="en-US" sz="7560" b="1" u="none" strike="noStrike" spc="-226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CrowdFix Nepal Database Schema Overview</a:t>
              </a:r>
              <a:endParaRPr lang="en-US" sz="7560" b="1" u="none" strike="noStrike" spc="-226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429875" y="-260311"/>
            <a:ext cx="8517815" cy="10807622"/>
            <a:chOff x="0" y="0"/>
            <a:chExt cx="1747482" cy="2217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7482" cy="2217250"/>
            </a:xfrm>
            <a:custGeom>
              <a:avLst/>
              <a:gdLst/>
              <a:ahLst/>
              <a:cxnLst/>
              <a:rect l="l" t="t" r="r" b="b"/>
              <a:pathLst>
                <a:path w="1747482" h="2217250">
                  <a:moveTo>
                    <a:pt x="18178" y="0"/>
                  </a:moveTo>
                  <a:lnTo>
                    <a:pt x="1729304" y="0"/>
                  </a:lnTo>
                  <a:cubicBezTo>
                    <a:pt x="1739344" y="0"/>
                    <a:pt x="1747482" y="8139"/>
                    <a:pt x="1747482" y="18178"/>
                  </a:cubicBezTo>
                  <a:lnTo>
                    <a:pt x="1747482" y="2199072"/>
                  </a:lnTo>
                  <a:cubicBezTo>
                    <a:pt x="1747482" y="2209112"/>
                    <a:pt x="1739344" y="2217250"/>
                    <a:pt x="1729304" y="2217250"/>
                  </a:cubicBezTo>
                  <a:lnTo>
                    <a:pt x="18178" y="2217250"/>
                  </a:lnTo>
                  <a:cubicBezTo>
                    <a:pt x="8139" y="2217250"/>
                    <a:pt x="0" y="2209112"/>
                    <a:pt x="0" y="2199072"/>
                  </a:cubicBezTo>
                  <a:lnTo>
                    <a:pt x="0" y="18178"/>
                  </a:lnTo>
                  <a:cubicBezTo>
                    <a:pt x="0" y="8139"/>
                    <a:pt x="8139" y="0"/>
                    <a:pt x="18178" y="0"/>
                  </a:cubicBezTo>
                  <a:close/>
                </a:path>
              </a:pathLst>
            </a:custGeom>
            <a:blipFill>
              <a:blip r:embed="rId1"/>
              <a:stretch>
                <a:fillRect t="-40" b="-4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685800" y="103638"/>
            <a:ext cx="8324850" cy="6018769"/>
            <a:chOff x="0" y="133350"/>
            <a:chExt cx="11099800" cy="5662586"/>
          </a:xfrm>
        </p:grpSpPr>
        <p:sp>
          <p:nvSpPr>
            <p:cNvPr id="5" name="TextBox 5"/>
            <p:cNvSpPr txBox="1"/>
            <p:nvPr/>
          </p:nvSpPr>
          <p:spPr>
            <a:xfrm>
              <a:off x="0" y="133350"/>
              <a:ext cx="11099800" cy="2533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7000" b="1" u="none" strike="noStrike" spc="-209">
                  <a:solidFill>
                    <a:srgbClr val="004B8D"/>
                  </a:solidFill>
                  <a:latin typeface="Bricolage Grotesque Semi-Bold" panose="020B0605040402000204"/>
                  <a:ea typeface="Bricolage Grotesque Semi-Bold" panose="020B0605040402000204"/>
                  <a:cs typeface="Bricolage Grotesque Semi-Bold" panose="020B0605040402000204"/>
                  <a:sym typeface="Bricolage Grotesque Semi-Bold" panose="020B0605040402000204"/>
                </a:rPr>
                <a:t>Mockup of CrowdFix Nepal Login Screen</a:t>
              </a:r>
              <a:endParaRPr lang="en-US" sz="7000" b="1" u="none" strike="noStrike" spc="-209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54033"/>
              <a:ext cx="11099800" cy="1041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The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CrowdFix Nepal login screen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 panose="00000500000000000000"/>
                  <a:ea typeface="HK Grotesk" panose="00000500000000000000"/>
                  <a:cs typeface="HK Grotesk" panose="00000500000000000000"/>
                  <a:sym typeface="HK Grotesk" panose="00000500000000000000"/>
                </a:rPr>
                <a:t> features a clean design and intuitive layout, allowing users to quickly access the platform for reporting local issues and engaging with their community.</a:t>
              </a:r>
              <a:endParaRPr lang="en-US" sz="2400" u="none" strike="noStrike">
                <a:solidFill>
                  <a:srgbClr val="4A4A4A"/>
                </a:solidFill>
                <a:latin typeface="HK Grotesk" panose="00000500000000000000"/>
                <a:ea typeface="HK Grotesk" panose="00000500000000000000"/>
                <a:cs typeface="HK Grotesk" panose="00000500000000000000"/>
                <a:sym typeface="HK Grotesk" panose="000005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941108"/>
              <a:ext cx="11099800" cy="868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Bricolage Grotesque Bold" panose="020B0605040402000204"/>
                  <a:ea typeface="Bricolage Grotesque Bold" panose="020B0605040402000204"/>
                  <a:cs typeface="Bricolage Grotesque Bold" panose="020B0605040402000204"/>
                  <a:sym typeface="Bricolage Grotesque Bold" panose="020B0605040402000204"/>
                </a:rPr>
                <a:t>User-Friendly Interface for Problem Reporting</a:t>
              </a:r>
              <a:endParaRPr lang="en-US" sz="3000" b="1" u="none" strike="noStrike">
                <a:solidFill>
                  <a:srgbClr val="4A4A4A"/>
                </a:solidFill>
                <a:latin typeface="Bricolage Grotesque Bold" panose="020B0605040402000204"/>
                <a:ea typeface="Bricolage Grotesque Bold" panose="020B0605040402000204"/>
                <a:cs typeface="Bricolage Grotesque Bold" panose="020B0605040402000204"/>
                <a:sym typeface="Bricolage Grotesque Bold" panose="020B0605040402000204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471987" y="1368806"/>
            <a:ext cx="13816013" cy="6676697"/>
            <a:chOff x="0" y="0"/>
            <a:chExt cx="2140462" cy="1034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0462" cy="1034395"/>
            </a:xfrm>
            <a:custGeom>
              <a:avLst/>
              <a:gdLst/>
              <a:ahLst/>
              <a:cxnLst/>
              <a:rect l="l" t="t" r="r" b="b"/>
              <a:pathLst>
                <a:path w="2140462" h="1034395">
                  <a:moveTo>
                    <a:pt x="0" y="0"/>
                  </a:moveTo>
                  <a:lnTo>
                    <a:pt x="2140462" y="0"/>
                  </a:lnTo>
                  <a:lnTo>
                    <a:pt x="2140462" y="1034395"/>
                  </a:lnTo>
                  <a:lnTo>
                    <a:pt x="0" y="1034395"/>
                  </a:lnTo>
                  <a:close/>
                </a:path>
              </a:pathLst>
            </a:custGeom>
            <a:blipFill>
              <a:blip r:embed="rId1"/>
              <a:stretch>
                <a:fillRect l="-1274" r="-1274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210552" y="4308692"/>
            <a:ext cx="688657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7000" b="1" u="none" strike="noStrike" spc="-209">
                <a:solidFill>
                  <a:srgbClr val="004B8D"/>
                </a:solidFill>
                <a:latin typeface="Bricolage Grotesque Semi-Bold" panose="020B0605040402000204"/>
                <a:ea typeface="Bricolage Grotesque Semi-Bold" panose="020B0605040402000204"/>
                <a:cs typeface="Bricolage Grotesque Semi-Bold" panose="020B0605040402000204"/>
                <a:sym typeface="Bricolage Grotesque Semi-Bold" panose="020B0605040402000204"/>
              </a:rPr>
              <a:t>Thank You</a:t>
            </a:r>
            <a:endParaRPr lang="en-US" sz="7000" b="1" u="none" strike="noStrike" spc="-209">
              <a:solidFill>
                <a:srgbClr val="004B8D"/>
              </a:solidFill>
              <a:latin typeface="Bricolage Grotesque Semi-Bold" panose="020B0605040402000204"/>
              <a:ea typeface="Bricolage Grotesque Semi-Bold" panose="020B0605040402000204"/>
              <a:cs typeface="Bricolage Grotesque Semi-Bold" panose="020B0605040402000204"/>
              <a:sym typeface="Bricolage Grotesque Semi-Bold" panose="020B060504040200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2113</Words>
  <Application>WPS Presentation</Application>
  <PresentationFormat>On-screen Show (4:3)</PresentationFormat>
  <Paragraphs>103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Bricolage Grotesque Semi-Bold</vt:lpstr>
      <vt:lpstr>HK Grotesk</vt:lpstr>
      <vt:lpstr>Segoe Print</vt:lpstr>
      <vt:lpstr>Bricolage Grotesque Bold</vt:lpstr>
      <vt:lpstr>HK Grotesk Bold</vt:lpstr>
      <vt:lpstr>Microsoft YaHei</vt:lpstr>
      <vt:lpstr>Arial Unicode MS</vt:lpstr>
      <vt:lpstr>Calibri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CrowdFix Nepal</dc:title>
  <dc:creator/>
  <dc:description>Presentation - CrowdFix Nepal</dc:description>
  <cp:lastModifiedBy>lenovo</cp:lastModifiedBy>
  <cp:revision>4</cp:revision>
  <dcterms:created xsi:type="dcterms:W3CDTF">2006-08-16T00:00:00Z</dcterms:created>
  <dcterms:modified xsi:type="dcterms:W3CDTF">2026-05-13T15:23:28Z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C251D39BBADC47F1995ED21D268FCA04_12</vt:lpwstr>
  </property>
  <property fmtid="{D5CDD505-2E9C-101B-9397-08002B2CF9AE}" pid="3" name="KSOProductBuildVer">
    <vt:lpwstr>1033-12.9.0.21549</vt:lpwstr>
  </property>
</Properties>
</file>