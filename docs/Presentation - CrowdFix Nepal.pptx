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70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1" r:id="rId16"/>
    <p:sldId id="269" r:id="rId17"/>
  </p:sldIdLst>
  <p:sldSz cx="18288000" cy="10287000"/>
  <p:notesSz cx="6858000" cy="9144000"/>
  <p:embeddedFontLst>
    <p:embeddedFont>
      <p:font typeface="Bricolage Grotesque Bold" panose="020B0604020202020204" charset="0"/>
      <p:bold r:id="rId18"/>
    </p:embeddedFont>
    <p:embeddedFont>
      <p:font typeface="Bricolage Grotesque Semi-Bold" panose="020B0604020202020204" charset="0"/>
      <p:bold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>
        <p:scale>
          <a:sx n="45" d="100"/>
          <a:sy n="45" d="100"/>
        </p:scale>
        <p:origin x="24" y="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关系图"/>
          <p:cNvPicPr>
            <a:picLocks noChangeAspect="1"/>
          </p:cNvPicPr>
          <p:nvPr/>
        </p:nvPicPr>
        <p:blipFill>
          <a:blip r:embed="rId2"/>
          <a:srcRect r="2528" b="10909"/>
          <a:stretch>
            <a:fillRect/>
          </a:stretch>
        </p:blipFill>
        <p:spPr>
          <a:xfrm>
            <a:off x="358776" y="1038225"/>
            <a:ext cx="17827624" cy="916543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3176" y="823913"/>
            <a:ext cx="18288000" cy="2266950"/>
          </a:xfrm>
          <a:prstGeom prst="rect">
            <a:avLst/>
          </a:prstGeom>
          <a:gradFill rotWithShape="0">
            <a:gsLst>
              <a:gs pos="0">
                <a:schemeClr val="bg2">
                  <a:gamma/>
                  <a:tint val="0"/>
                  <a:invGamma/>
                </a:schemeClr>
              </a:gs>
              <a:gs pos="100000">
                <a:schemeClr val="bg2">
                  <a:alpha val="53999"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7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816350" y="3738563"/>
            <a:ext cx="11090276" cy="1833563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US" altLang="zh-CN" noProof="0"/>
              <a:t>Click to edit Master subtitle style</a:t>
            </a:r>
          </a:p>
        </p:txBody>
      </p:sp>
      <p:sp>
        <p:nvSpPr>
          <p:cNvPr id="2056" name="Rectangle 8"/>
          <p:cNvSpPr>
            <a:spLocks noGrp="1" noChangeArrowheads="1"/>
          </p:cNvSpPr>
          <p:nvPr>
            <p:ph type="ctrTitle"/>
          </p:nvPr>
        </p:nvSpPr>
        <p:spPr>
          <a:xfrm>
            <a:off x="1511300" y="931070"/>
            <a:ext cx="15544800" cy="2205038"/>
          </a:xfrm>
        </p:spPr>
        <p:txBody>
          <a:bodyPr/>
          <a:lstStyle>
            <a:lvl1pPr>
              <a:defRPr sz="5400"/>
            </a:lvl1pPr>
          </a:lstStyle>
          <a:p>
            <a:pPr lvl="0"/>
            <a:r>
              <a:rPr lang="en-US" altLang="zh-CN" noProof="0"/>
              <a:t>Click to edit Master title style</a:t>
            </a:r>
          </a:p>
        </p:txBody>
      </p:sp>
      <p:sp>
        <p:nvSpPr>
          <p:cNvPr id="11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9367838"/>
            <a:ext cx="4267200" cy="714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1D8BD707-D9CF-40AE-B4C6-C98DA3205C09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12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248400" y="9367838"/>
            <a:ext cx="5791200" cy="714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3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3106400" y="9367838"/>
            <a:ext cx="4267200" cy="714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</p:bldLst>
  </p:timing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76" y="2564607"/>
            <a:ext cx="15773400" cy="4279106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76" y="6884195"/>
            <a:ext cx="15773400" cy="2250281"/>
          </a:xfrm>
        </p:spPr>
        <p:txBody>
          <a:bodyPr/>
          <a:lstStyle>
            <a:lvl1pPr marL="0" indent="0">
              <a:buNone/>
              <a:defRPr sz="3600"/>
            </a:lvl1pPr>
            <a:lvl2pPr marL="685800" indent="0">
              <a:buNone/>
              <a:defRPr sz="3000"/>
            </a:lvl2pPr>
            <a:lvl3pPr marL="1371600" indent="0">
              <a:buNone/>
              <a:defRPr sz="27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2400300"/>
            <a:ext cx="8077200" cy="67889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96400" y="2400300"/>
            <a:ext cx="8077200" cy="67889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0476" y="547688"/>
            <a:ext cx="15773400" cy="198834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0476" y="2521745"/>
            <a:ext cx="7737474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0476" y="3757613"/>
            <a:ext cx="7737474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5576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5576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0476" y="685800"/>
            <a:ext cx="5899150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5576" y="1481138"/>
            <a:ext cx="9258300" cy="7310438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60476" y="3086100"/>
            <a:ext cx="5899150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0476" y="685800"/>
            <a:ext cx="5899150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775576" y="1481138"/>
            <a:ext cx="9258300" cy="7310438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60476" y="3086100"/>
            <a:ext cx="5899150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258800" y="411957"/>
            <a:ext cx="4114800" cy="87772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411957"/>
            <a:ext cx="12039600" cy="87772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3176" y="500063"/>
            <a:ext cx="18288000" cy="1514475"/>
          </a:xfrm>
          <a:prstGeom prst="rect">
            <a:avLst/>
          </a:prstGeom>
          <a:gradFill rotWithShape="0">
            <a:gsLst>
              <a:gs pos="0">
                <a:schemeClr val="bg2">
                  <a:gamma/>
                  <a:tint val="0"/>
                  <a:invGamma/>
                </a:schemeClr>
              </a:gs>
              <a:gs pos="100000">
                <a:schemeClr val="bg2">
                  <a:alpha val="53999"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7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pic>
        <p:nvPicPr>
          <p:cNvPr id="1027" name="Picture 3" descr="关系图"/>
          <p:cNvPicPr>
            <a:picLocks noChangeAspect="1"/>
          </p:cNvPicPr>
          <p:nvPr/>
        </p:nvPicPr>
        <p:blipFill>
          <a:blip r:embed="rId13"/>
          <a:srcRect t="1094" r="8122" b="13318"/>
          <a:stretch>
            <a:fillRect/>
          </a:stretch>
        </p:blipFill>
        <p:spPr>
          <a:xfrm>
            <a:off x="11595100" y="6657975"/>
            <a:ext cx="6680200" cy="35004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8" name="Rectangle 4"/>
          <p:cNvSpPr>
            <a:spLocks noGrp="1"/>
          </p:cNvSpPr>
          <p:nvPr>
            <p:ph type="title"/>
          </p:nvPr>
        </p:nvSpPr>
        <p:spPr>
          <a:xfrm>
            <a:off x="914400" y="411957"/>
            <a:ext cx="16459200" cy="17145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en-US" altLang="zh-CN" dirty="0"/>
              <a:t>Click to edit Master title style</a:t>
            </a:r>
          </a:p>
        </p:txBody>
      </p:sp>
      <p:sp>
        <p:nvSpPr>
          <p:cNvPr id="1029" name="Rectangle 5"/>
          <p:cNvSpPr>
            <a:spLocks noGrp="1"/>
          </p:cNvSpPr>
          <p:nvPr>
            <p:ph type="body" idx="1"/>
          </p:nvPr>
        </p:nvSpPr>
        <p:spPr>
          <a:xfrm>
            <a:off x="914400" y="2400300"/>
            <a:ext cx="16459200" cy="678894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9367838"/>
            <a:ext cx="4267200" cy="714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2100"/>
            </a:lvl1pPr>
          </a:lstStyle>
          <a:p>
            <a:fld id="{1D8BD707-D9CF-40AE-B4C6-C98DA3205C09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248400" y="9367838"/>
            <a:ext cx="5791200" cy="714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2100"/>
            </a:lvl1pPr>
          </a:lstStyle>
          <a:p>
            <a:endParaRPr lang="en-US"/>
          </a:p>
        </p:txBody>
      </p:sp>
      <p:sp>
        <p:nvSpPr>
          <p:cNvPr id="103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3106400" y="9367838"/>
            <a:ext cx="4267200" cy="714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2100"/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1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6" grpId="0" bldLvl="0" animBg="1"/>
      <p:bldP spid="1028" grpId="0" bldLvl="0"/>
    </p:bldLst>
  </p:timing>
  <p:hf sldNum="0" hdr="0" ftr="0" dt="0"/>
  <p:txStyles>
    <p:titleStyle>
      <a:lvl1pPr algn="ctr" rtl="0" fontAlgn="base">
        <a:spcBef>
          <a:spcPct val="0"/>
        </a:spcBef>
        <a:spcAft>
          <a:spcPct val="0"/>
        </a:spcAft>
        <a:defRPr sz="66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514350" indent="-514350" algn="l" rtl="0" fontAlgn="base">
        <a:spcBef>
          <a:spcPct val="30000"/>
        </a:spcBef>
        <a:spcAft>
          <a:spcPct val="0"/>
        </a:spcAft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1pPr>
      <a:lvl2pPr marL="1114425" indent="-428625" algn="l" rtl="0" fontAlgn="base">
        <a:spcBef>
          <a:spcPct val="30000"/>
        </a:spcBef>
        <a:spcAft>
          <a:spcPct val="0"/>
        </a:spcAft>
        <a:buChar char="–"/>
        <a:defRPr sz="42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rtl="0" fontAlgn="base">
        <a:spcBef>
          <a:spcPct val="30000"/>
        </a:spcBef>
        <a:spcAft>
          <a:spcPct val="0"/>
        </a:spcAft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rtl="0" fontAlgn="base">
        <a:spcBef>
          <a:spcPct val="30000"/>
        </a:spcBef>
        <a:spcAft>
          <a:spcPct val="0"/>
        </a:spcAft>
        <a:buChar char="–"/>
        <a:defRPr sz="30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rtl="0" fontAlgn="base">
        <a:spcBef>
          <a:spcPct val="30000"/>
        </a:spcBef>
        <a:spcAft>
          <a:spcPct val="0"/>
        </a:spcAft>
        <a:buChar char="»"/>
        <a:defRPr sz="30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s 1"/>
          <p:cNvSpPr/>
          <p:nvPr/>
        </p:nvSpPr>
        <p:spPr>
          <a:xfrm>
            <a:off x="2026285" y="1786890"/>
            <a:ext cx="9878060" cy="395605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</a:bodyPr>
          <a:lstStyle/>
          <a:p>
            <a:pPr algn="ctr"/>
            <a:r>
              <a:rPr lang="en-US" altLang="en-GB" sz="7200" b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PROJECT: CROWDFIX</a:t>
            </a:r>
          </a:p>
          <a:p>
            <a:pPr algn="ctr"/>
            <a:endParaRPr lang="en-US" altLang="en-GB" sz="7200" b="1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  <a:p>
            <a:pPr algn="ctr"/>
            <a:r>
              <a:rPr lang="en-US" altLang="en-GB" sz="7200" b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TEAM MEMBERS</a:t>
            </a:r>
          </a:p>
          <a:p>
            <a:pPr algn="ctr"/>
            <a:r>
              <a:rPr lang="en-US" altLang="en-GB" sz="7200" b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       </a:t>
            </a:r>
            <a:r>
              <a:rPr lang="en-US" altLang="en-GB" sz="4000" b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1, B.K DOL BAHADUR(230191)</a:t>
            </a:r>
          </a:p>
          <a:p>
            <a:pPr algn="ctr"/>
            <a:r>
              <a:rPr lang="en-US" altLang="en-GB" sz="4000" b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               2, BASNET ANJALI (2301461)     </a:t>
            </a:r>
          </a:p>
          <a:p>
            <a:pPr algn="ctr"/>
            <a:r>
              <a:rPr lang="en-US" altLang="en-GB" sz="4000" b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         3, SAPKOTA PRATIK (230175</a:t>
            </a:r>
          </a:p>
          <a:p>
            <a:pPr algn="ctr"/>
            <a:r>
              <a:rPr lang="en-US" altLang="en-GB" sz="4000" b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         4, BHOTE UMANG(2301515)</a:t>
            </a:r>
          </a:p>
          <a:p>
            <a:pPr algn="ctr"/>
            <a:r>
              <a:rPr lang="en-US" altLang="en-GB" sz="4000" b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                  </a:t>
            </a:r>
            <a:r>
              <a:rPr lang="en-US" altLang="en-GB" sz="7200" b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 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34675" y="666750"/>
            <a:ext cx="7759788" cy="8953500"/>
            <a:chOff x="0" y="0"/>
            <a:chExt cx="1202194" cy="138713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02194" cy="1387131"/>
            </a:xfrm>
            <a:custGeom>
              <a:avLst/>
              <a:gdLst/>
              <a:ahLst/>
              <a:cxnLst/>
              <a:rect l="l" t="t" r="r" b="b"/>
              <a:pathLst>
                <a:path w="1202194" h="1387131">
                  <a:moveTo>
                    <a:pt x="19954" y="0"/>
                  </a:moveTo>
                  <a:lnTo>
                    <a:pt x="1182240" y="0"/>
                  </a:lnTo>
                  <a:cubicBezTo>
                    <a:pt x="1187532" y="0"/>
                    <a:pt x="1192608" y="2102"/>
                    <a:pt x="1196350" y="5844"/>
                  </a:cubicBezTo>
                  <a:cubicBezTo>
                    <a:pt x="1200092" y="9586"/>
                    <a:pt x="1202194" y="14662"/>
                    <a:pt x="1202194" y="19954"/>
                  </a:cubicBezTo>
                  <a:lnTo>
                    <a:pt x="1202194" y="1367177"/>
                  </a:lnTo>
                  <a:cubicBezTo>
                    <a:pt x="1202194" y="1378198"/>
                    <a:pt x="1193261" y="1387131"/>
                    <a:pt x="1182240" y="1387131"/>
                  </a:cubicBezTo>
                  <a:lnTo>
                    <a:pt x="19954" y="1387131"/>
                  </a:lnTo>
                  <a:cubicBezTo>
                    <a:pt x="8934" y="1387131"/>
                    <a:pt x="0" y="1378198"/>
                    <a:pt x="0" y="1367177"/>
                  </a:cubicBezTo>
                  <a:lnTo>
                    <a:pt x="0" y="19954"/>
                  </a:lnTo>
                  <a:cubicBezTo>
                    <a:pt x="0" y="8934"/>
                    <a:pt x="8934" y="0"/>
                    <a:pt x="19954" y="0"/>
                  </a:cubicBezTo>
                  <a:close/>
                </a:path>
              </a:pathLst>
            </a:custGeom>
            <a:blipFill>
              <a:blip r:embed="rId2"/>
              <a:stretch>
                <a:fillRect t="-169" b="-169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66750" y="4844941"/>
            <a:ext cx="9763125" cy="4775309"/>
            <a:chOff x="0" y="0"/>
            <a:chExt cx="13017500" cy="6367079"/>
          </a:xfrm>
        </p:grpSpPr>
        <p:sp>
          <p:nvSpPr>
            <p:cNvPr id="10" name="TextBox 10"/>
            <p:cNvSpPr txBox="1"/>
            <p:nvPr/>
          </p:nvSpPr>
          <p:spPr>
            <a:xfrm>
              <a:off x="0" y="257175"/>
              <a:ext cx="13017500" cy="49413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4000"/>
                </a:lnSpc>
                <a:spcBef>
                  <a:spcPct val="0"/>
                </a:spcBef>
              </a:pPr>
              <a:r>
                <a:rPr lang="en-US" sz="14000" b="1" u="none" strike="noStrike" spc="-840">
                  <a:solidFill>
                    <a:srgbClr val="004B8D"/>
                  </a:solidFill>
                  <a:latin typeface="Bricolage Grotesque Semi-Bold" panose="020B0605040402000204"/>
                  <a:ea typeface="Bricolage Grotesque Semi-Bold" panose="020B0605040402000204"/>
                  <a:cs typeface="Bricolage Grotesque Semi-Bold" panose="020B0605040402000204"/>
                  <a:sym typeface="Bricolage Grotesque Semi-Bold" panose="020B0605040402000204"/>
                </a:rPr>
                <a:t>CrowdFix Nepal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0104" y="5476261"/>
              <a:ext cx="12742965" cy="8908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5465"/>
                </a:lnSpc>
              </a:pPr>
              <a:r>
                <a:rPr lang="en-US" sz="4205">
                  <a:solidFill>
                    <a:srgbClr val="4A4A4A"/>
                  </a:solidFill>
                  <a:latin typeface="HK Grotesk" panose="00000500000000000000"/>
                  <a:ea typeface="HK Grotesk" panose="00000500000000000000"/>
                  <a:cs typeface="HK Grotesk" panose="00000500000000000000"/>
                  <a:sym typeface="HK Grotesk" panose="00000500000000000000"/>
                </a:rPr>
                <a:t>Department of Information Security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296400" y="800100"/>
            <a:ext cx="6866887" cy="2701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000"/>
              </a:lnSpc>
              <a:spcBef>
                <a:spcPct val="0"/>
              </a:spcBef>
            </a:pPr>
            <a:r>
              <a:rPr lang="en-US" sz="7000" b="1" u="none" strike="noStrike">
                <a:solidFill>
                  <a:srgbClr val="004B8D"/>
                </a:solidFill>
                <a:latin typeface="Bricolage Grotesque Bold" panose="020B0605040402000204"/>
                <a:ea typeface="Bricolage Grotesque Bold" panose="020B0605040402000204"/>
                <a:cs typeface="Bricolage Grotesque Bold" panose="020B0605040402000204"/>
                <a:sym typeface="Bricolage Grotesque Bold" panose="020B0605040402000204"/>
              </a:rPr>
              <a:t>Community Reporting for Nepal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9296400" y="4081462"/>
            <a:ext cx="5448300" cy="1244399"/>
            <a:chOff x="0" y="0"/>
            <a:chExt cx="7264400" cy="1659199"/>
          </a:xfrm>
        </p:grpSpPr>
        <p:sp>
          <p:nvSpPr>
            <p:cNvPr id="4" name="TextBox 4"/>
            <p:cNvSpPr txBox="1"/>
            <p:nvPr/>
          </p:nvSpPr>
          <p:spPr>
            <a:xfrm>
              <a:off x="0" y="0"/>
              <a:ext cx="7264400" cy="1066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90"/>
                </a:lnSpc>
                <a:spcBef>
                  <a:spcPct val="0"/>
                </a:spcBef>
              </a:pPr>
              <a:r>
                <a:rPr lang="en-US" sz="2660" b="1" u="none" strike="noStrike">
                  <a:solidFill>
                    <a:srgbClr val="4A4A4A"/>
                  </a:solidFill>
                  <a:latin typeface="Bricolage Grotesque Bold" panose="020B0605040402000204"/>
                  <a:ea typeface="Bricolage Grotesque Bold" panose="020B0605040402000204"/>
                  <a:cs typeface="Bricolage Grotesque Bold" panose="020B0605040402000204"/>
                  <a:sym typeface="Bricolage Grotesque Bold" panose="020B0605040402000204"/>
                </a:rPr>
                <a:t>Empowering Citizens to Report Issues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1189299"/>
              <a:ext cx="7264400" cy="4699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45"/>
                </a:lnSpc>
                <a:spcBef>
                  <a:spcPct val="0"/>
                </a:spcBef>
              </a:pPr>
              <a:r>
                <a:rPr lang="en-US" sz="2370" u="none" strike="noStrike">
                  <a:solidFill>
                    <a:srgbClr val="4A4A4A"/>
                  </a:solidFill>
                  <a:latin typeface="HK Grotesk" panose="00000500000000000000"/>
                  <a:ea typeface="HK Grotesk" panose="00000500000000000000"/>
                  <a:cs typeface="HK Grotesk" panose="00000500000000000000"/>
                  <a:sym typeface="HK Grotesk" panose="00000500000000000000"/>
                </a:rPr>
                <a:t>Citizens can easily identify problems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296400" y="5872162"/>
            <a:ext cx="5448300" cy="1244399"/>
            <a:chOff x="0" y="0"/>
            <a:chExt cx="7264400" cy="1659199"/>
          </a:xfrm>
        </p:grpSpPr>
        <p:sp>
          <p:nvSpPr>
            <p:cNvPr id="7" name="TextBox 7"/>
            <p:cNvSpPr txBox="1"/>
            <p:nvPr/>
          </p:nvSpPr>
          <p:spPr>
            <a:xfrm>
              <a:off x="0" y="0"/>
              <a:ext cx="7264400" cy="1066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90"/>
                </a:lnSpc>
                <a:spcBef>
                  <a:spcPct val="0"/>
                </a:spcBef>
              </a:pPr>
              <a:r>
                <a:rPr lang="en-US" sz="2660" b="1" u="none" strike="noStrike">
                  <a:solidFill>
                    <a:srgbClr val="4A4A4A"/>
                  </a:solidFill>
                  <a:latin typeface="Bricolage Grotesque Bold" panose="020B0605040402000204"/>
                  <a:ea typeface="Bricolage Grotesque Bold" panose="020B0605040402000204"/>
                  <a:cs typeface="Bricolage Grotesque Bold" panose="020B0605040402000204"/>
                  <a:sym typeface="Bricolage Grotesque Bold" panose="020B0605040402000204"/>
                </a:rPr>
                <a:t>Streamlined Reporting Process for Authorities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1189299"/>
              <a:ext cx="7264400" cy="4699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45"/>
                </a:lnSpc>
                <a:spcBef>
                  <a:spcPct val="0"/>
                </a:spcBef>
              </a:pPr>
              <a:r>
                <a:rPr lang="en-US" sz="2370" u="none" strike="noStrike">
                  <a:solidFill>
                    <a:srgbClr val="4A4A4A"/>
                  </a:solidFill>
                  <a:latin typeface="HK Grotesk" panose="00000500000000000000"/>
                  <a:ea typeface="HK Grotesk" panose="00000500000000000000"/>
                  <a:cs typeface="HK Grotesk" panose="00000500000000000000"/>
                  <a:sym typeface="HK Grotesk" panose="00000500000000000000"/>
                </a:rPr>
                <a:t>Reports are routed to relevant offices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296400" y="7662862"/>
            <a:ext cx="5448300" cy="1244399"/>
            <a:chOff x="0" y="0"/>
            <a:chExt cx="7264400" cy="1659199"/>
          </a:xfrm>
        </p:grpSpPr>
        <p:sp>
          <p:nvSpPr>
            <p:cNvPr id="10" name="TextBox 10"/>
            <p:cNvSpPr txBox="1"/>
            <p:nvPr/>
          </p:nvSpPr>
          <p:spPr>
            <a:xfrm>
              <a:off x="0" y="0"/>
              <a:ext cx="7264400" cy="1066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90"/>
                </a:lnSpc>
                <a:spcBef>
                  <a:spcPct val="0"/>
                </a:spcBef>
              </a:pPr>
              <a:r>
                <a:rPr lang="en-US" sz="2660" b="1" u="none" strike="noStrike">
                  <a:solidFill>
                    <a:srgbClr val="4A4A4A"/>
                  </a:solidFill>
                  <a:latin typeface="Bricolage Grotesque Bold" panose="020B0605040402000204"/>
                  <a:ea typeface="Bricolage Grotesque Bold" panose="020B0605040402000204"/>
                  <a:cs typeface="Bricolage Grotesque Bold" panose="020B0605040402000204"/>
                  <a:sym typeface="Bricolage Grotesque Bold" panose="020B0605040402000204"/>
                </a:rPr>
                <a:t>Enhancing Civic Engagement and Transparency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1189299"/>
              <a:ext cx="7264400" cy="4699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45"/>
                </a:lnSpc>
                <a:spcBef>
                  <a:spcPct val="0"/>
                </a:spcBef>
              </a:pPr>
              <a:r>
                <a:rPr lang="en-US" sz="2370" u="none" strike="noStrike">
                  <a:solidFill>
                    <a:srgbClr val="4A4A4A"/>
                  </a:solidFill>
                  <a:latin typeface="HK Grotesk" panose="00000500000000000000"/>
                  <a:ea typeface="HK Grotesk" panose="00000500000000000000"/>
                  <a:cs typeface="HK Grotesk" panose="00000500000000000000"/>
                  <a:sym typeface="HK Grotesk" panose="00000500000000000000"/>
                </a:rPr>
                <a:t>Upvotes prioritize community concerns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-282408" y="-295776"/>
            <a:ext cx="8140533" cy="10878553"/>
            <a:chOff x="0" y="0"/>
            <a:chExt cx="1261182" cy="168537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261182" cy="1685373"/>
            </a:xfrm>
            <a:custGeom>
              <a:avLst/>
              <a:gdLst/>
              <a:ahLst/>
              <a:cxnLst/>
              <a:rect l="l" t="t" r="r" b="b"/>
              <a:pathLst>
                <a:path w="1261182" h="1685373">
                  <a:moveTo>
                    <a:pt x="19021" y="0"/>
                  </a:moveTo>
                  <a:lnTo>
                    <a:pt x="1242161" y="0"/>
                  </a:lnTo>
                  <a:cubicBezTo>
                    <a:pt x="1252666" y="0"/>
                    <a:pt x="1261182" y="8516"/>
                    <a:pt x="1261182" y="19021"/>
                  </a:cubicBezTo>
                  <a:lnTo>
                    <a:pt x="1261182" y="1666352"/>
                  </a:lnTo>
                  <a:cubicBezTo>
                    <a:pt x="1261182" y="1676857"/>
                    <a:pt x="1252666" y="1685373"/>
                    <a:pt x="1242161" y="1685373"/>
                  </a:cubicBezTo>
                  <a:lnTo>
                    <a:pt x="19021" y="1685373"/>
                  </a:lnTo>
                  <a:cubicBezTo>
                    <a:pt x="13976" y="1685373"/>
                    <a:pt x="9138" y="1683369"/>
                    <a:pt x="5571" y="1679802"/>
                  </a:cubicBezTo>
                  <a:cubicBezTo>
                    <a:pt x="2004" y="1676235"/>
                    <a:pt x="0" y="1671396"/>
                    <a:pt x="0" y="1666352"/>
                  </a:cubicBezTo>
                  <a:lnTo>
                    <a:pt x="0" y="19021"/>
                  </a:lnTo>
                  <a:cubicBezTo>
                    <a:pt x="0" y="8516"/>
                    <a:pt x="8516" y="0"/>
                    <a:pt x="19021" y="0"/>
                  </a:cubicBezTo>
                  <a:close/>
                </a:path>
              </a:pathLst>
            </a:custGeom>
            <a:blipFill>
              <a:blip r:embed="rId2"/>
              <a:stretch>
                <a:fillRect t="-391" b="-391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800100"/>
            <a:ext cx="15516225" cy="930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000"/>
              </a:lnSpc>
            </a:pPr>
            <a:r>
              <a:rPr lang="en-US" sz="7000" b="1">
                <a:solidFill>
                  <a:srgbClr val="004B8D"/>
                </a:solidFill>
                <a:latin typeface="Bricolage Grotesque Bold" panose="020B0605040402000204"/>
                <a:ea typeface="Bricolage Grotesque Bold" panose="020B0605040402000204"/>
                <a:cs typeface="Bricolage Grotesque Bold" panose="020B0605040402000204"/>
                <a:sym typeface="Bricolage Grotesque Bold" panose="020B0605040402000204"/>
              </a:rPr>
              <a:t>Key Features of CrowdFix Nepal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666750" y="4248150"/>
            <a:ext cx="4010025" cy="1672590"/>
            <a:chOff x="0" y="0"/>
            <a:chExt cx="5346700" cy="2230120"/>
          </a:xfrm>
        </p:grpSpPr>
        <p:sp>
          <p:nvSpPr>
            <p:cNvPr id="4" name="TextBox 4"/>
            <p:cNvSpPr txBox="1"/>
            <p:nvPr/>
          </p:nvSpPr>
          <p:spPr>
            <a:xfrm>
              <a:off x="0" y="-9525"/>
              <a:ext cx="5310396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 u="none" strike="noStrike">
                  <a:solidFill>
                    <a:srgbClr val="4A4A4A"/>
                  </a:solidFill>
                  <a:latin typeface="Bricolage Grotesque Bold" panose="020B0605040402000204"/>
                  <a:ea typeface="Bricolage Grotesque Bold" panose="020B0605040402000204"/>
                  <a:cs typeface="Bricolage Grotesque Bold" panose="020B0605040402000204"/>
                  <a:sym typeface="Bricolage Grotesque Bold" panose="020B0605040402000204"/>
                </a:rPr>
                <a:t>Geotagging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1146175"/>
              <a:ext cx="5346700" cy="10839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60"/>
                </a:lnSpc>
                <a:spcBef>
                  <a:spcPct val="0"/>
                </a:spcBef>
              </a:pPr>
              <a:r>
                <a:rPr lang="en-US" sz="2400" u="none" strike="noStrike">
                  <a:solidFill>
                    <a:srgbClr val="4A4A4A"/>
                  </a:solidFill>
                  <a:latin typeface="HK Grotesk" panose="00000500000000000000"/>
                  <a:ea typeface="HK Grotesk" panose="00000500000000000000"/>
                  <a:cs typeface="HK Grotesk" panose="00000500000000000000"/>
                  <a:sym typeface="HK Grotesk" panose="00000500000000000000"/>
                </a:rPr>
                <a:t>Reports are linked to specific locations.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422685" y="4248150"/>
            <a:ext cx="4007190" cy="2129790"/>
            <a:chOff x="0" y="0"/>
            <a:chExt cx="5342920" cy="2839720"/>
          </a:xfrm>
        </p:grpSpPr>
        <p:sp>
          <p:nvSpPr>
            <p:cNvPr id="7" name="TextBox 7"/>
            <p:cNvSpPr txBox="1"/>
            <p:nvPr/>
          </p:nvSpPr>
          <p:spPr>
            <a:xfrm>
              <a:off x="0" y="-9525"/>
              <a:ext cx="5306642" cy="12287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 u="none" strike="noStrike">
                  <a:solidFill>
                    <a:srgbClr val="4A4A4A"/>
                  </a:solidFill>
                  <a:latin typeface="Bricolage Grotesque Bold" panose="020B0605040402000204"/>
                  <a:ea typeface="Bricolage Grotesque Bold" panose="020B0605040402000204"/>
                  <a:cs typeface="Bricolage Grotesque Bold" panose="020B0605040402000204"/>
                  <a:sym typeface="Bricolage Grotesque Bold" panose="020B0605040402000204"/>
                </a:rPr>
                <a:t>Community Engagement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1755775"/>
              <a:ext cx="5342920" cy="10839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60"/>
                </a:lnSpc>
                <a:spcBef>
                  <a:spcPct val="0"/>
                </a:spcBef>
              </a:pPr>
              <a:r>
                <a:rPr lang="en-US" sz="2400" u="none" strike="noStrike">
                  <a:solidFill>
                    <a:srgbClr val="4A4A4A"/>
                  </a:solidFill>
                  <a:latin typeface="HK Grotesk" panose="00000500000000000000"/>
                  <a:ea typeface="HK Grotesk" panose="00000500000000000000"/>
                  <a:cs typeface="HK Grotesk" panose="00000500000000000000"/>
                  <a:sym typeface="HK Grotesk" panose="00000500000000000000"/>
                </a:rPr>
                <a:t>Citizens can upvote and comment on issues.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66750" y="7829550"/>
            <a:ext cx="4010025" cy="1672590"/>
            <a:chOff x="0" y="0"/>
            <a:chExt cx="5346700" cy="2230120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9525"/>
              <a:ext cx="5310396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 u="none" strike="noStrike">
                  <a:solidFill>
                    <a:srgbClr val="4A4A4A"/>
                  </a:solidFill>
                  <a:latin typeface="Bricolage Grotesque Bold" panose="020B0605040402000204"/>
                  <a:ea typeface="Bricolage Grotesque Bold" panose="020B0605040402000204"/>
                  <a:cs typeface="Bricolage Grotesque Bold" panose="020B0605040402000204"/>
                  <a:sym typeface="Bricolage Grotesque Bold" panose="020B0605040402000204"/>
                </a:rPr>
                <a:t>Authority Dashboard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1146175"/>
              <a:ext cx="5346700" cy="10839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60"/>
                </a:lnSpc>
                <a:spcBef>
                  <a:spcPct val="0"/>
                </a:spcBef>
              </a:pPr>
              <a:r>
                <a:rPr lang="en-US" sz="2400" u="none" strike="noStrike">
                  <a:solidFill>
                    <a:srgbClr val="4A4A4A"/>
                  </a:solidFill>
                  <a:latin typeface="HK Grotesk" panose="00000500000000000000"/>
                  <a:ea typeface="HK Grotesk" panose="00000500000000000000"/>
                  <a:cs typeface="HK Grotesk" panose="00000500000000000000"/>
                  <a:sym typeface="HK Grotesk" panose="00000500000000000000"/>
                </a:rPr>
                <a:t>Municipal authorities can manage and track reports.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422685" y="7829550"/>
            <a:ext cx="4007190" cy="1672590"/>
            <a:chOff x="0" y="0"/>
            <a:chExt cx="5342920" cy="2230120"/>
          </a:xfrm>
        </p:grpSpPr>
        <p:sp>
          <p:nvSpPr>
            <p:cNvPr id="13" name="TextBox 13"/>
            <p:cNvSpPr txBox="1"/>
            <p:nvPr/>
          </p:nvSpPr>
          <p:spPr>
            <a:xfrm>
              <a:off x="0" y="-9525"/>
              <a:ext cx="5306642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 u="none" strike="noStrike">
                  <a:solidFill>
                    <a:srgbClr val="4A4A4A"/>
                  </a:solidFill>
                  <a:latin typeface="Bricolage Grotesque Bold" panose="020B0605040402000204"/>
                  <a:ea typeface="Bricolage Grotesque Bold" panose="020B0605040402000204"/>
                  <a:cs typeface="Bricolage Grotesque Bold" panose="020B0605040402000204"/>
                  <a:sym typeface="Bricolage Grotesque Bold" panose="020B0605040402000204"/>
                </a:rPr>
                <a:t>Notifications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1146175"/>
              <a:ext cx="5342920" cy="10839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60"/>
                </a:lnSpc>
                <a:spcBef>
                  <a:spcPct val="0"/>
                </a:spcBef>
              </a:pPr>
              <a:r>
                <a:rPr lang="en-US" sz="2400" u="none" strike="noStrike">
                  <a:solidFill>
                    <a:srgbClr val="4A4A4A"/>
                  </a:solidFill>
                  <a:latin typeface="HK Grotesk" panose="00000500000000000000"/>
                  <a:ea typeface="HK Grotesk" panose="00000500000000000000"/>
                  <a:cs typeface="HK Grotesk" panose="00000500000000000000"/>
                  <a:sym typeface="HK Grotesk" panose="00000500000000000000"/>
                </a:rPr>
                <a:t>Users receive updates on report statuses.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172950" y="4248150"/>
            <a:ext cx="4010025" cy="1672590"/>
            <a:chOff x="0" y="0"/>
            <a:chExt cx="5346700" cy="2230120"/>
          </a:xfrm>
        </p:grpSpPr>
        <p:sp>
          <p:nvSpPr>
            <p:cNvPr id="16" name="TextBox 16"/>
            <p:cNvSpPr txBox="1"/>
            <p:nvPr/>
          </p:nvSpPr>
          <p:spPr>
            <a:xfrm>
              <a:off x="0" y="-9525"/>
              <a:ext cx="5310396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 u="none" strike="noStrike">
                  <a:solidFill>
                    <a:srgbClr val="4A4A4A"/>
                  </a:solidFill>
                  <a:latin typeface="Bricolage Grotesque Bold" panose="020B0605040402000204"/>
                  <a:ea typeface="Bricolage Grotesque Bold" panose="020B0605040402000204"/>
                  <a:cs typeface="Bricolage Grotesque Bold" panose="020B0605040402000204"/>
                  <a:sym typeface="Bricolage Grotesque Bold" panose="020B0605040402000204"/>
                </a:rPr>
                <a:t>Interactive Map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1146175"/>
              <a:ext cx="5346700" cy="10839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60"/>
                </a:lnSpc>
                <a:spcBef>
                  <a:spcPct val="0"/>
                </a:spcBef>
              </a:pPr>
              <a:r>
                <a:rPr lang="en-US" sz="2400" u="none" strike="noStrike">
                  <a:solidFill>
                    <a:srgbClr val="4A4A4A"/>
                  </a:solidFill>
                  <a:latin typeface="HK Grotesk" panose="00000500000000000000"/>
                  <a:ea typeface="HK Grotesk" panose="00000500000000000000"/>
                  <a:cs typeface="HK Grotesk" panose="00000500000000000000"/>
                  <a:sym typeface="HK Grotesk" panose="00000500000000000000"/>
                </a:rPr>
                <a:t>Users view all reported issues visually.</a:t>
              </a:r>
            </a:p>
          </p:txBody>
        </p:sp>
      </p:grpSp>
      <p:sp>
        <p:nvSpPr>
          <p:cNvPr id="23" name="Freeform 23"/>
          <p:cNvSpPr/>
          <p:nvPr/>
        </p:nvSpPr>
        <p:spPr>
          <a:xfrm>
            <a:off x="666750" y="3362325"/>
            <a:ext cx="1058896" cy="361950"/>
          </a:xfrm>
          <a:custGeom>
            <a:avLst/>
            <a:gdLst/>
            <a:ahLst/>
            <a:cxnLst/>
            <a:rect l="l" t="t" r="r" b="b"/>
            <a:pathLst>
              <a:path w="1058896" h="361950">
                <a:moveTo>
                  <a:pt x="0" y="0"/>
                </a:moveTo>
                <a:lnTo>
                  <a:pt x="1058896" y="0"/>
                </a:lnTo>
                <a:lnTo>
                  <a:pt x="1058896" y="361950"/>
                </a:lnTo>
                <a:lnTo>
                  <a:pt x="0" y="3619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Freeform 24"/>
          <p:cNvSpPr/>
          <p:nvPr/>
        </p:nvSpPr>
        <p:spPr>
          <a:xfrm>
            <a:off x="666750" y="6934200"/>
            <a:ext cx="1058896" cy="361950"/>
          </a:xfrm>
          <a:custGeom>
            <a:avLst/>
            <a:gdLst/>
            <a:ahLst/>
            <a:cxnLst/>
            <a:rect l="l" t="t" r="r" b="b"/>
            <a:pathLst>
              <a:path w="1058896" h="361950">
                <a:moveTo>
                  <a:pt x="0" y="0"/>
                </a:moveTo>
                <a:lnTo>
                  <a:pt x="1058896" y="0"/>
                </a:lnTo>
                <a:lnTo>
                  <a:pt x="1058896" y="361950"/>
                </a:lnTo>
                <a:lnTo>
                  <a:pt x="0" y="3619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Freeform 25"/>
          <p:cNvSpPr/>
          <p:nvPr/>
        </p:nvSpPr>
        <p:spPr>
          <a:xfrm>
            <a:off x="6419850" y="3362325"/>
            <a:ext cx="1058896" cy="361950"/>
          </a:xfrm>
          <a:custGeom>
            <a:avLst/>
            <a:gdLst/>
            <a:ahLst/>
            <a:cxnLst/>
            <a:rect l="l" t="t" r="r" b="b"/>
            <a:pathLst>
              <a:path w="1058896" h="361950">
                <a:moveTo>
                  <a:pt x="0" y="0"/>
                </a:moveTo>
                <a:lnTo>
                  <a:pt x="1058896" y="0"/>
                </a:lnTo>
                <a:lnTo>
                  <a:pt x="1058896" y="361950"/>
                </a:lnTo>
                <a:lnTo>
                  <a:pt x="0" y="3619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Freeform 26"/>
          <p:cNvSpPr/>
          <p:nvPr/>
        </p:nvSpPr>
        <p:spPr>
          <a:xfrm>
            <a:off x="6419850" y="6934200"/>
            <a:ext cx="1058896" cy="361950"/>
          </a:xfrm>
          <a:custGeom>
            <a:avLst/>
            <a:gdLst/>
            <a:ahLst/>
            <a:cxnLst/>
            <a:rect l="l" t="t" r="r" b="b"/>
            <a:pathLst>
              <a:path w="1058896" h="361950">
                <a:moveTo>
                  <a:pt x="0" y="0"/>
                </a:moveTo>
                <a:lnTo>
                  <a:pt x="1058896" y="0"/>
                </a:lnTo>
                <a:lnTo>
                  <a:pt x="1058896" y="361950"/>
                </a:lnTo>
                <a:lnTo>
                  <a:pt x="0" y="3619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7" name="Freeform 27"/>
          <p:cNvSpPr/>
          <p:nvPr/>
        </p:nvSpPr>
        <p:spPr>
          <a:xfrm>
            <a:off x="12172950" y="3362325"/>
            <a:ext cx="1058896" cy="361950"/>
          </a:xfrm>
          <a:custGeom>
            <a:avLst/>
            <a:gdLst/>
            <a:ahLst/>
            <a:cxnLst/>
            <a:rect l="l" t="t" r="r" b="b"/>
            <a:pathLst>
              <a:path w="1058896" h="361950">
                <a:moveTo>
                  <a:pt x="0" y="0"/>
                </a:moveTo>
                <a:lnTo>
                  <a:pt x="1058896" y="0"/>
                </a:lnTo>
                <a:lnTo>
                  <a:pt x="1058896" y="361950"/>
                </a:lnTo>
                <a:lnTo>
                  <a:pt x="0" y="3619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800100"/>
            <a:ext cx="14077950" cy="1816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000"/>
              </a:lnSpc>
            </a:pPr>
            <a:r>
              <a:rPr lang="en-US" sz="7000" b="1">
                <a:solidFill>
                  <a:srgbClr val="004B8D"/>
                </a:solidFill>
                <a:latin typeface="Bricolage Grotesque Bold" panose="020B0605040402000204"/>
                <a:ea typeface="Bricolage Grotesque Bold" panose="020B0605040402000204"/>
                <a:cs typeface="Bricolage Grotesque Bold" panose="020B0605040402000204"/>
                <a:sym typeface="Bricolage Grotesque Bold" panose="020B0605040402000204"/>
              </a:rPr>
              <a:t>CrowdFix Nepal: Scope Definition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666750" y="5143500"/>
            <a:ext cx="5448300" cy="2291715"/>
            <a:chOff x="0" y="0"/>
            <a:chExt cx="7264400" cy="3055620"/>
          </a:xfrm>
        </p:grpSpPr>
        <p:sp>
          <p:nvSpPr>
            <p:cNvPr id="4" name="TextBox 4"/>
            <p:cNvSpPr txBox="1"/>
            <p:nvPr/>
          </p:nvSpPr>
          <p:spPr>
            <a:xfrm>
              <a:off x="0" y="-9525"/>
              <a:ext cx="7264400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4A4A4A"/>
                  </a:solidFill>
                  <a:latin typeface="Bricolage Grotesque Bold" panose="020B0605040402000204"/>
                  <a:ea typeface="Bricolage Grotesque Bold" panose="020B0605040402000204"/>
                  <a:cs typeface="Bricolage Grotesque Bold" panose="020B0605040402000204"/>
                  <a:sym typeface="Bricolage Grotesque Bold" panose="020B0605040402000204"/>
                </a:rPr>
                <a:t>In Scope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854075"/>
              <a:ext cx="7264400" cy="22015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60"/>
                </a:lnSpc>
                <a:spcBef>
                  <a:spcPct val="0"/>
                </a:spcBef>
              </a:pPr>
              <a:r>
                <a:rPr lang="en-US" sz="2400" u="none" strike="noStrike">
                  <a:solidFill>
                    <a:srgbClr val="4A4A4A"/>
                  </a:solidFill>
                  <a:latin typeface="HK Grotesk" panose="00000500000000000000"/>
                  <a:ea typeface="HK Grotesk" panose="00000500000000000000"/>
                  <a:cs typeface="HK Grotesk" panose="00000500000000000000"/>
                  <a:sym typeface="HK Grotesk" panose="00000500000000000000"/>
                </a:rPr>
                <a:t>Key features include user registration, geotagged reporting, community interaction, authority dashboards, and notifications.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419850" y="5142230"/>
            <a:ext cx="5448300" cy="1872615"/>
            <a:chOff x="0" y="0"/>
            <a:chExt cx="7264400" cy="2496820"/>
          </a:xfrm>
        </p:grpSpPr>
        <p:sp>
          <p:nvSpPr>
            <p:cNvPr id="7" name="TextBox 7"/>
            <p:cNvSpPr txBox="1"/>
            <p:nvPr/>
          </p:nvSpPr>
          <p:spPr>
            <a:xfrm>
              <a:off x="0" y="-9525"/>
              <a:ext cx="7264400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 u="none" strike="noStrike">
                  <a:solidFill>
                    <a:srgbClr val="4A4A4A"/>
                  </a:solidFill>
                  <a:latin typeface="Bricolage Grotesque Bold" panose="020B0605040402000204"/>
                  <a:ea typeface="Bricolage Grotesque Bold" panose="020B0605040402000204"/>
                  <a:cs typeface="Bricolage Grotesque Bold" panose="020B0605040402000204"/>
                  <a:sym typeface="Bricolage Grotesque Bold" panose="020B0605040402000204"/>
                </a:rPr>
                <a:t>Out of Scope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854075"/>
              <a:ext cx="7264400" cy="16427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60"/>
                </a:lnSpc>
                <a:spcBef>
                  <a:spcPct val="0"/>
                </a:spcBef>
              </a:pPr>
              <a:r>
                <a:rPr lang="en-US" sz="2400" u="none" strike="noStrike">
                  <a:solidFill>
                    <a:srgbClr val="4A4A4A"/>
                  </a:solidFill>
                  <a:latin typeface="HK Grotesk" panose="00000500000000000000"/>
                  <a:ea typeface="HK Grotesk" panose="00000500000000000000"/>
                  <a:cs typeface="HK Grotesk" panose="00000500000000000000"/>
                  <a:sym typeface="HK Grotesk" panose="00000500000000000000"/>
                </a:rPr>
                <a:t>Future phases exclude integration with legacy systems and AI image classification capabilities.</a:t>
              </a:r>
            </a:p>
          </p:txBody>
        </p:sp>
      </p:grpSp>
      <p:sp>
        <p:nvSpPr>
          <p:cNvPr id="14" name="Freeform 14"/>
          <p:cNvSpPr/>
          <p:nvPr/>
        </p:nvSpPr>
        <p:spPr>
          <a:xfrm>
            <a:off x="666750" y="4248150"/>
            <a:ext cx="1058896" cy="361950"/>
          </a:xfrm>
          <a:custGeom>
            <a:avLst/>
            <a:gdLst/>
            <a:ahLst/>
            <a:cxnLst/>
            <a:rect l="l" t="t" r="r" b="b"/>
            <a:pathLst>
              <a:path w="1058896" h="361950">
                <a:moveTo>
                  <a:pt x="0" y="0"/>
                </a:moveTo>
                <a:lnTo>
                  <a:pt x="1058896" y="0"/>
                </a:lnTo>
                <a:lnTo>
                  <a:pt x="1058896" y="361950"/>
                </a:lnTo>
                <a:lnTo>
                  <a:pt x="0" y="3619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6419850" y="4248150"/>
            <a:ext cx="1058896" cy="361950"/>
          </a:xfrm>
          <a:custGeom>
            <a:avLst/>
            <a:gdLst/>
            <a:ahLst/>
            <a:cxnLst/>
            <a:rect l="l" t="t" r="r" b="b"/>
            <a:pathLst>
              <a:path w="1058896" h="361950">
                <a:moveTo>
                  <a:pt x="0" y="0"/>
                </a:moveTo>
                <a:lnTo>
                  <a:pt x="1058896" y="0"/>
                </a:lnTo>
                <a:lnTo>
                  <a:pt x="1058896" y="361950"/>
                </a:lnTo>
                <a:lnTo>
                  <a:pt x="0" y="3619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7"/>
          <p:cNvSpPr/>
          <p:nvPr/>
        </p:nvSpPr>
        <p:spPr>
          <a:xfrm>
            <a:off x="666750" y="4248150"/>
            <a:ext cx="1058896" cy="361950"/>
          </a:xfrm>
          <a:custGeom>
            <a:avLst/>
            <a:gdLst/>
            <a:ahLst/>
            <a:cxnLst/>
            <a:rect l="l" t="t" r="r" b="b"/>
            <a:pathLst>
              <a:path w="1058896" h="361950">
                <a:moveTo>
                  <a:pt x="0" y="0"/>
                </a:moveTo>
                <a:lnTo>
                  <a:pt x="1058896" y="0"/>
                </a:lnTo>
                <a:lnTo>
                  <a:pt x="1058896" y="361950"/>
                </a:lnTo>
                <a:lnTo>
                  <a:pt x="0" y="3619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6419850" y="4248150"/>
            <a:ext cx="1058896" cy="361950"/>
          </a:xfrm>
          <a:custGeom>
            <a:avLst/>
            <a:gdLst/>
            <a:ahLst/>
            <a:cxnLst/>
            <a:rect l="l" t="t" r="r" b="b"/>
            <a:pathLst>
              <a:path w="1058896" h="361950">
                <a:moveTo>
                  <a:pt x="0" y="0"/>
                </a:moveTo>
                <a:lnTo>
                  <a:pt x="1058896" y="0"/>
                </a:lnTo>
                <a:lnTo>
                  <a:pt x="1058896" y="361950"/>
                </a:lnTo>
                <a:lnTo>
                  <a:pt x="0" y="3619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4208181" y="3352800"/>
            <a:ext cx="11200800" cy="3422649"/>
            <a:chOff x="0" y="0"/>
            <a:chExt cx="14934400" cy="4563532"/>
          </a:xfrm>
        </p:grpSpPr>
        <p:sp>
          <p:nvSpPr>
            <p:cNvPr id="10" name="TextBox 10"/>
            <p:cNvSpPr txBox="1"/>
            <p:nvPr/>
          </p:nvSpPr>
          <p:spPr>
            <a:xfrm>
              <a:off x="0" y="3207807"/>
              <a:ext cx="12354200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4A4A4A"/>
                  </a:solidFill>
                  <a:latin typeface="Bricolage Grotesque Bold" panose="020B0605040402000204"/>
                  <a:ea typeface="Bricolage Grotesque Bold" panose="020B0605040402000204"/>
                  <a:cs typeface="Bricolage Grotesque Bold" panose="020B0605040402000204"/>
                  <a:sym typeface="Bricolage Grotesque Bold" panose="020B0605040402000204"/>
                </a:rPr>
                <a:t>Use Case Dynamics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4080932"/>
              <a:ext cx="12354200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80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4A4A4A"/>
                  </a:solidFill>
                  <a:latin typeface="HK Grotesk" panose="00000500000000000000"/>
                  <a:ea typeface="HK Grotesk" panose="00000500000000000000"/>
                  <a:cs typeface="HK Grotesk" panose="00000500000000000000"/>
                  <a:sym typeface="HK Grotesk" panose="00000500000000000000"/>
                </a:rPr>
                <a:t>Visual representation of user interactions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133350"/>
              <a:ext cx="14934400" cy="24659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000"/>
                </a:lnSpc>
                <a:spcBef>
                  <a:spcPct val="0"/>
                </a:spcBef>
              </a:pPr>
              <a:r>
                <a:rPr lang="en-US" sz="7000" b="1" u="none" strike="noStrike" spc="-209">
                  <a:solidFill>
                    <a:srgbClr val="004B8D"/>
                  </a:solidFill>
                  <a:latin typeface="Bricolage Grotesque Semi-Bold" panose="020B0605040402000204"/>
                  <a:ea typeface="Bricolage Grotesque Semi-Bold" panose="020B0605040402000204"/>
                  <a:cs typeface="Bricolage Grotesque Semi-Bold" panose="020B0605040402000204"/>
                  <a:sym typeface="Bricolage Grotesque Semi-Bold" panose="020B0605040402000204"/>
                </a:rPr>
                <a:t>Understanding User Interactions and Roles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028700"/>
            <a:ext cx="13288823" cy="7342354"/>
          </a:xfrm>
          <a:custGeom>
            <a:avLst/>
            <a:gdLst/>
            <a:ahLst/>
            <a:cxnLst/>
            <a:rect l="l" t="t" r="r" b="b"/>
            <a:pathLst>
              <a:path w="13288823" h="7342354">
                <a:moveTo>
                  <a:pt x="0" y="0"/>
                </a:moveTo>
                <a:lnTo>
                  <a:pt x="13288823" y="0"/>
                </a:lnTo>
                <a:lnTo>
                  <a:pt x="13288823" y="7342354"/>
                </a:lnTo>
                <a:lnTo>
                  <a:pt x="0" y="73423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0" b="-930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7"/>
          <p:cNvSpPr/>
          <p:nvPr/>
        </p:nvSpPr>
        <p:spPr>
          <a:xfrm>
            <a:off x="666750" y="4248150"/>
            <a:ext cx="1058896" cy="361950"/>
          </a:xfrm>
          <a:custGeom>
            <a:avLst/>
            <a:gdLst/>
            <a:ahLst/>
            <a:cxnLst/>
            <a:rect l="l" t="t" r="r" b="b"/>
            <a:pathLst>
              <a:path w="1058896" h="361950">
                <a:moveTo>
                  <a:pt x="0" y="0"/>
                </a:moveTo>
                <a:lnTo>
                  <a:pt x="1058896" y="0"/>
                </a:lnTo>
                <a:lnTo>
                  <a:pt x="1058896" y="361950"/>
                </a:lnTo>
                <a:lnTo>
                  <a:pt x="0" y="3619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6419850" y="4248150"/>
            <a:ext cx="1058896" cy="361950"/>
          </a:xfrm>
          <a:custGeom>
            <a:avLst/>
            <a:gdLst/>
            <a:ahLst/>
            <a:cxnLst/>
            <a:rect l="l" t="t" r="r" b="b"/>
            <a:pathLst>
              <a:path w="1058896" h="361950">
                <a:moveTo>
                  <a:pt x="0" y="0"/>
                </a:moveTo>
                <a:lnTo>
                  <a:pt x="1058896" y="0"/>
                </a:lnTo>
                <a:lnTo>
                  <a:pt x="1058896" y="361950"/>
                </a:lnTo>
                <a:lnTo>
                  <a:pt x="0" y="3619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4318794" y="3432175"/>
            <a:ext cx="10891082" cy="3422649"/>
            <a:chOff x="0" y="0"/>
            <a:chExt cx="14521443" cy="4563532"/>
          </a:xfrm>
        </p:grpSpPr>
        <p:sp>
          <p:nvSpPr>
            <p:cNvPr id="10" name="TextBox 10"/>
            <p:cNvSpPr txBox="1"/>
            <p:nvPr/>
          </p:nvSpPr>
          <p:spPr>
            <a:xfrm>
              <a:off x="0" y="3207807"/>
              <a:ext cx="12012589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4A4A4A"/>
                  </a:solidFill>
                  <a:latin typeface="Bricolage Grotesque Bold" panose="020B0605040402000204"/>
                  <a:ea typeface="Bricolage Grotesque Bold" panose="020B0605040402000204"/>
                  <a:cs typeface="Bricolage Grotesque Bold" panose="020B0605040402000204"/>
                  <a:sym typeface="Bricolage Grotesque Bold" panose="020B0605040402000204"/>
                </a:rPr>
                <a:t>Visual Representation of System Interactions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4080932"/>
              <a:ext cx="12012589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80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4A4A4A"/>
                  </a:solidFill>
                  <a:latin typeface="HK Grotesk" panose="00000500000000000000"/>
                  <a:ea typeface="HK Grotesk" panose="00000500000000000000"/>
                  <a:cs typeface="HK Grotesk" panose="00000500000000000000"/>
                  <a:sym typeface="HK Grotesk" panose="00000500000000000000"/>
                </a:rPr>
                <a:t>Illustrating entities and data flow connections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133350"/>
              <a:ext cx="14521443" cy="24659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000"/>
                </a:lnSpc>
                <a:spcBef>
                  <a:spcPct val="0"/>
                </a:spcBef>
              </a:pPr>
              <a:r>
                <a:rPr lang="en-US" sz="7000" b="1" u="none" strike="noStrike" spc="-209">
                  <a:solidFill>
                    <a:srgbClr val="004B8D"/>
                  </a:solidFill>
                  <a:latin typeface="Bricolage Grotesque Semi-Bold" panose="020B0605040402000204"/>
                  <a:ea typeface="Bricolage Grotesque Semi-Bold" panose="020B0605040402000204"/>
                  <a:cs typeface="Bricolage Grotesque Semi-Bold" panose="020B0605040402000204"/>
                  <a:sym typeface="Bricolage Grotesque Semi-Bold" panose="020B0605040402000204"/>
                </a:rPr>
                <a:t>CrowdFix Nepal Context Diagram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589548" cy="10582387"/>
            <a:chOff x="0" y="0"/>
            <a:chExt cx="2698196" cy="15359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698196" cy="1535990"/>
            </a:xfrm>
            <a:custGeom>
              <a:avLst/>
              <a:gdLst/>
              <a:ahLst/>
              <a:cxnLst/>
              <a:rect l="l" t="t" r="r" b="b"/>
              <a:pathLst>
                <a:path w="2698196" h="1535990">
                  <a:moveTo>
                    <a:pt x="8329" y="0"/>
                  </a:moveTo>
                  <a:lnTo>
                    <a:pt x="2689867" y="0"/>
                  </a:lnTo>
                  <a:cubicBezTo>
                    <a:pt x="2694467" y="0"/>
                    <a:pt x="2698196" y="3729"/>
                    <a:pt x="2698196" y="8329"/>
                  </a:cubicBezTo>
                  <a:lnTo>
                    <a:pt x="2698196" y="1527660"/>
                  </a:lnTo>
                  <a:cubicBezTo>
                    <a:pt x="2698196" y="1529869"/>
                    <a:pt x="2697318" y="1531988"/>
                    <a:pt x="2695756" y="1533550"/>
                  </a:cubicBezTo>
                  <a:cubicBezTo>
                    <a:pt x="2694194" y="1535112"/>
                    <a:pt x="2692076" y="1535990"/>
                    <a:pt x="2689867" y="1535990"/>
                  </a:cubicBezTo>
                  <a:lnTo>
                    <a:pt x="8329" y="1535990"/>
                  </a:lnTo>
                  <a:cubicBezTo>
                    <a:pt x="3729" y="1535990"/>
                    <a:pt x="0" y="1532261"/>
                    <a:pt x="0" y="1527660"/>
                  </a:cubicBezTo>
                  <a:lnTo>
                    <a:pt x="0" y="8329"/>
                  </a:lnTo>
                  <a:cubicBezTo>
                    <a:pt x="0" y="3729"/>
                    <a:pt x="3729" y="0"/>
                    <a:pt x="8329" y="0"/>
                  </a:cubicBezTo>
                  <a:close/>
                </a:path>
              </a:pathLst>
            </a:custGeom>
            <a:blipFill>
              <a:blip r:embed="rId2"/>
              <a:stretch>
                <a:fillRect l="-662" r="-662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76245"/>
            <a:ext cx="12060317" cy="9934510"/>
            <a:chOff x="0" y="0"/>
            <a:chExt cx="1916713" cy="15788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16712" cy="1578864"/>
            </a:xfrm>
            <a:custGeom>
              <a:avLst/>
              <a:gdLst/>
              <a:ahLst/>
              <a:cxnLst/>
              <a:rect l="l" t="t" r="r" b="b"/>
              <a:pathLst>
                <a:path w="1916712" h="1578864">
                  <a:moveTo>
                    <a:pt x="12839" y="0"/>
                  </a:moveTo>
                  <a:lnTo>
                    <a:pt x="1903874" y="0"/>
                  </a:lnTo>
                  <a:cubicBezTo>
                    <a:pt x="1910964" y="0"/>
                    <a:pt x="1916712" y="5748"/>
                    <a:pt x="1916712" y="12839"/>
                  </a:cubicBezTo>
                  <a:lnTo>
                    <a:pt x="1916712" y="1566025"/>
                  </a:lnTo>
                  <a:cubicBezTo>
                    <a:pt x="1916712" y="1573116"/>
                    <a:pt x="1910964" y="1578864"/>
                    <a:pt x="1903874" y="1578864"/>
                  </a:cubicBezTo>
                  <a:lnTo>
                    <a:pt x="12839" y="1578864"/>
                  </a:lnTo>
                  <a:cubicBezTo>
                    <a:pt x="5748" y="1578864"/>
                    <a:pt x="0" y="1573116"/>
                    <a:pt x="0" y="1566025"/>
                  </a:cubicBezTo>
                  <a:lnTo>
                    <a:pt x="0" y="12839"/>
                  </a:lnTo>
                  <a:cubicBezTo>
                    <a:pt x="0" y="5748"/>
                    <a:pt x="5748" y="0"/>
                    <a:pt x="12839" y="0"/>
                  </a:cubicBezTo>
                  <a:close/>
                </a:path>
              </a:pathLst>
            </a:custGeom>
            <a:blipFill>
              <a:blip r:embed="rId2"/>
              <a:stretch>
                <a:fillRect l="-458" r="-458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2805921" y="1908175"/>
            <a:ext cx="4453379" cy="6470649"/>
            <a:chOff x="0" y="0"/>
            <a:chExt cx="5937839" cy="8627532"/>
          </a:xfrm>
        </p:grpSpPr>
        <p:sp>
          <p:nvSpPr>
            <p:cNvPr id="5" name="TextBox 5"/>
            <p:cNvSpPr txBox="1"/>
            <p:nvPr/>
          </p:nvSpPr>
          <p:spPr>
            <a:xfrm>
              <a:off x="0" y="5570007"/>
              <a:ext cx="4911965" cy="1838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4A4A4A"/>
                  </a:solidFill>
                  <a:latin typeface="Bricolage Grotesque Bold" panose="020B0605040402000204"/>
                  <a:ea typeface="Bricolage Grotesque Bold" panose="020B0605040402000204"/>
                  <a:cs typeface="Bricolage Grotesque Bold" panose="020B0605040402000204"/>
                  <a:sym typeface="Bricolage Grotesque Bold" panose="020B0605040402000204"/>
                </a:rPr>
                <a:t>Simplified sequence of actions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7662332"/>
              <a:ext cx="4911965" cy="965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80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4A4A4A"/>
                  </a:solidFill>
                  <a:latin typeface="HK Grotesk" panose="00000500000000000000"/>
                  <a:ea typeface="HK Grotesk" panose="00000500000000000000"/>
                  <a:cs typeface="HK Grotesk" panose="00000500000000000000"/>
                  <a:sym typeface="HK Grotesk" panose="00000500000000000000"/>
                </a:rPr>
                <a:t>Visualizing the steps for effective reporting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33350"/>
              <a:ext cx="5937839" cy="48281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000"/>
                </a:lnSpc>
                <a:spcBef>
                  <a:spcPct val="0"/>
                </a:spcBef>
              </a:pPr>
              <a:r>
                <a:rPr lang="en-US" sz="7000" b="1" u="none" strike="noStrike" spc="-209">
                  <a:solidFill>
                    <a:srgbClr val="004B8D"/>
                  </a:solidFill>
                  <a:latin typeface="Bricolage Grotesque Semi-Bold" panose="020B0605040402000204"/>
                  <a:ea typeface="Bricolage Grotesque Semi-Bold" panose="020B0605040402000204"/>
                  <a:cs typeface="Bricolage Grotesque Semi-Bold" panose="020B0605040402000204"/>
                  <a:sym typeface="Bricolage Grotesque Semi-Bold" panose="020B0605040402000204"/>
                </a:rPr>
                <a:t>Report Submission Process Overview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226682"/>
            <a:ext cx="14272586" cy="9833637"/>
            <a:chOff x="0" y="0"/>
            <a:chExt cx="2291571" cy="15788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91571" cy="1578864"/>
            </a:xfrm>
            <a:custGeom>
              <a:avLst/>
              <a:gdLst/>
              <a:ahLst/>
              <a:cxnLst/>
              <a:rect l="l" t="t" r="r" b="b"/>
              <a:pathLst>
                <a:path w="2291571" h="1578864">
                  <a:moveTo>
                    <a:pt x="10849" y="0"/>
                  </a:moveTo>
                  <a:lnTo>
                    <a:pt x="2280722" y="0"/>
                  </a:lnTo>
                  <a:cubicBezTo>
                    <a:pt x="2286714" y="0"/>
                    <a:pt x="2291571" y="4857"/>
                    <a:pt x="2291571" y="10849"/>
                  </a:cubicBezTo>
                  <a:lnTo>
                    <a:pt x="2291571" y="1568015"/>
                  </a:lnTo>
                  <a:cubicBezTo>
                    <a:pt x="2291571" y="1574007"/>
                    <a:pt x="2286714" y="1578864"/>
                    <a:pt x="2280722" y="1578864"/>
                  </a:cubicBezTo>
                  <a:lnTo>
                    <a:pt x="10849" y="1578864"/>
                  </a:lnTo>
                  <a:cubicBezTo>
                    <a:pt x="4857" y="1578864"/>
                    <a:pt x="0" y="1574007"/>
                    <a:pt x="0" y="1568015"/>
                  </a:cubicBezTo>
                  <a:lnTo>
                    <a:pt x="0" y="10849"/>
                  </a:lnTo>
                  <a:cubicBezTo>
                    <a:pt x="0" y="4857"/>
                    <a:pt x="4857" y="0"/>
                    <a:pt x="10849" y="0"/>
                  </a:cubicBezTo>
                  <a:close/>
                </a:path>
              </a:pathLst>
            </a:custGeom>
            <a:blipFill>
              <a:blip r:embed="rId2"/>
              <a:stretch>
                <a:fillRect l="-3409" r="-3409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4409811" y="1731194"/>
            <a:ext cx="3878189" cy="7356474"/>
            <a:chOff x="0" y="0"/>
            <a:chExt cx="5170919" cy="9808632"/>
          </a:xfrm>
        </p:grpSpPr>
        <p:sp>
          <p:nvSpPr>
            <p:cNvPr id="5" name="TextBox 5"/>
            <p:cNvSpPr txBox="1"/>
            <p:nvPr/>
          </p:nvSpPr>
          <p:spPr>
            <a:xfrm>
              <a:off x="0" y="6751107"/>
              <a:ext cx="4277545" cy="1838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4A4A4A"/>
                  </a:solidFill>
                  <a:latin typeface="Bricolage Grotesque Bold" panose="020B0605040402000204"/>
                  <a:ea typeface="Bricolage Grotesque Bold" panose="020B0605040402000204"/>
                  <a:cs typeface="Bricolage Grotesque Bold" panose="020B0605040402000204"/>
                  <a:sym typeface="Bricolage Grotesque Bold" panose="020B0605040402000204"/>
                </a:rPr>
                <a:t>Simplified sequence of actions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8843432"/>
              <a:ext cx="4277545" cy="965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80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4A4A4A"/>
                  </a:solidFill>
                  <a:latin typeface="HK Grotesk" panose="00000500000000000000"/>
                  <a:ea typeface="HK Grotesk" panose="00000500000000000000"/>
                  <a:cs typeface="HK Grotesk" panose="00000500000000000000"/>
                  <a:sym typeface="HK Grotesk" panose="00000500000000000000"/>
                </a:rPr>
                <a:t>Visualizing the steps for effective reporting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33350"/>
              <a:ext cx="5170919" cy="60092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000"/>
                </a:lnSpc>
                <a:spcBef>
                  <a:spcPct val="0"/>
                </a:spcBef>
              </a:pPr>
              <a:r>
                <a:rPr lang="en-US" sz="7000" b="1" u="none" strike="noStrike" spc="-209">
                  <a:solidFill>
                    <a:srgbClr val="004B8D"/>
                  </a:solidFill>
                  <a:latin typeface="Bricolage Grotesque Semi-Bold" panose="020B0605040402000204"/>
                  <a:ea typeface="Bricolage Grotesque Semi-Bold" panose="020B0605040402000204"/>
                  <a:cs typeface="Bricolage Grotesque Semi-Bold" panose="020B0605040402000204"/>
                  <a:sym typeface="Bricolage Grotesque Semi-Bold" panose="020B0605040402000204"/>
                </a:rPr>
                <a:t>Report Submission Process Overview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61107" y="266198"/>
            <a:ext cx="9486351" cy="9754603"/>
          </a:xfrm>
          <a:custGeom>
            <a:avLst/>
            <a:gdLst/>
            <a:ahLst/>
            <a:cxnLst/>
            <a:rect l="l" t="t" r="r" b="b"/>
            <a:pathLst>
              <a:path w="9486351" h="9754603">
                <a:moveTo>
                  <a:pt x="0" y="0"/>
                </a:moveTo>
                <a:lnTo>
                  <a:pt x="9486352" y="0"/>
                </a:lnTo>
                <a:lnTo>
                  <a:pt x="9486352" y="9754604"/>
                </a:lnTo>
                <a:lnTo>
                  <a:pt x="0" y="97546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1933777" y="697496"/>
            <a:ext cx="5325523" cy="6375399"/>
            <a:chOff x="0" y="0"/>
            <a:chExt cx="7100697" cy="8500532"/>
          </a:xfrm>
        </p:grpSpPr>
        <p:sp>
          <p:nvSpPr>
            <p:cNvPr id="4" name="TextBox 4"/>
            <p:cNvSpPr txBox="1"/>
            <p:nvPr/>
          </p:nvSpPr>
          <p:spPr>
            <a:xfrm>
              <a:off x="0" y="5570007"/>
              <a:ext cx="5873918" cy="12287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4A4A4A"/>
                  </a:solidFill>
                  <a:latin typeface="Bricolage Grotesque Bold" panose="020B0605040402000204"/>
                  <a:ea typeface="Bricolage Grotesque Bold" panose="020B0605040402000204"/>
                  <a:cs typeface="Bricolage Grotesque Bold" panose="020B0605040402000204"/>
                  <a:sym typeface="Bricolage Grotesque Bold" panose="020B0605040402000204"/>
                </a:rPr>
                <a:t>Comprehensive system structure overview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7052732"/>
              <a:ext cx="5873918" cy="1447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80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4A4A4A"/>
                  </a:solidFill>
                  <a:latin typeface="HK Grotesk" panose="00000500000000000000"/>
                  <a:ea typeface="HK Grotesk" panose="00000500000000000000"/>
                  <a:cs typeface="HK Grotesk" panose="00000500000000000000"/>
                  <a:sym typeface="HK Grotesk" panose="00000500000000000000"/>
                </a:rPr>
                <a:t>Visual representation of the </a:t>
              </a:r>
              <a:r>
                <a:rPr lang="en-US" sz="2400" b="1">
                  <a:solidFill>
                    <a:srgbClr val="4A4A4A"/>
                  </a:solidFill>
                  <a:latin typeface="HK Grotesk Bold" panose="00000800000000000000"/>
                  <a:ea typeface="HK Grotesk Bold" panose="00000800000000000000"/>
                  <a:cs typeface="HK Grotesk Bold" panose="00000800000000000000"/>
                  <a:sym typeface="HK Grotesk Bold" panose="00000800000000000000"/>
                </a:rPr>
                <a:t>client-server architecture</a:t>
              </a:r>
              <a:r>
                <a:rPr lang="en-US" sz="2400">
                  <a:solidFill>
                    <a:srgbClr val="4A4A4A"/>
                  </a:solidFill>
                  <a:latin typeface="HK Grotesk" panose="00000500000000000000"/>
                  <a:ea typeface="HK Grotesk" panose="00000500000000000000"/>
                  <a:cs typeface="HK Grotesk" panose="00000500000000000000"/>
                  <a:sym typeface="HK Grotesk" panose="00000500000000000000"/>
                </a:rPr>
                <a:t> showing all tiers and interactions.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133350"/>
              <a:ext cx="7100697" cy="48281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000"/>
                </a:lnSpc>
                <a:spcBef>
                  <a:spcPct val="0"/>
                </a:spcBef>
              </a:pPr>
              <a:r>
                <a:rPr lang="en-US" sz="7000" b="1" u="none" strike="noStrike" spc="-209">
                  <a:solidFill>
                    <a:srgbClr val="004B8D"/>
                  </a:solidFill>
                  <a:latin typeface="Bricolage Grotesque Semi-Bold" panose="020B0605040402000204"/>
                  <a:ea typeface="Bricolage Grotesque Semi-Bold" panose="020B0605040402000204"/>
                  <a:cs typeface="Bricolage Grotesque Semi-Bold" panose="020B0605040402000204"/>
                  <a:sym typeface="Bricolage Grotesque Semi-Bold" panose="020B0605040402000204"/>
                </a:rPr>
                <a:t>CrowdFix Nepal Client-Server Architecture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60150" y="377548"/>
            <a:ext cx="10764548" cy="9126197"/>
          </a:xfrm>
          <a:custGeom>
            <a:avLst/>
            <a:gdLst/>
            <a:ahLst/>
            <a:cxnLst/>
            <a:rect l="l" t="t" r="r" b="b"/>
            <a:pathLst>
              <a:path w="10764548" h="9126197">
                <a:moveTo>
                  <a:pt x="0" y="0"/>
                </a:moveTo>
                <a:lnTo>
                  <a:pt x="10764548" y="0"/>
                </a:lnTo>
                <a:lnTo>
                  <a:pt x="10764548" y="9126196"/>
                </a:lnTo>
                <a:lnTo>
                  <a:pt x="0" y="91261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81" r="-1381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2078104" y="967813"/>
            <a:ext cx="4819044" cy="7945666"/>
            <a:chOff x="0" y="0"/>
            <a:chExt cx="6425392" cy="10594221"/>
          </a:xfrm>
        </p:grpSpPr>
        <p:sp>
          <p:nvSpPr>
            <p:cNvPr id="4" name="TextBox 4"/>
            <p:cNvSpPr txBox="1"/>
            <p:nvPr/>
          </p:nvSpPr>
          <p:spPr>
            <a:xfrm>
              <a:off x="0" y="7302102"/>
              <a:ext cx="5315284" cy="19752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90"/>
                </a:lnSpc>
                <a:spcBef>
                  <a:spcPct val="0"/>
                </a:spcBef>
              </a:pPr>
              <a:r>
                <a:rPr lang="en-US" sz="3240" b="1">
                  <a:solidFill>
                    <a:srgbClr val="4A4A4A"/>
                  </a:solidFill>
                  <a:latin typeface="Bricolage Grotesque Bold" panose="020B0605040402000204"/>
                  <a:ea typeface="Bricolage Grotesque Bold" panose="020B0605040402000204"/>
                  <a:cs typeface="Bricolage Grotesque Bold" panose="020B0605040402000204"/>
                  <a:sym typeface="Bricolage Grotesque Bold" panose="020B0605040402000204"/>
                </a:rPr>
                <a:t>Visual Representation of Relationships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9542191"/>
              <a:ext cx="5315284" cy="10520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10"/>
                </a:lnSpc>
                <a:spcBef>
                  <a:spcPct val="0"/>
                </a:spcBef>
              </a:pPr>
              <a:r>
                <a:rPr lang="en-US" sz="2590">
                  <a:solidFill>
                    <a:srgbClr val="4A4A4A"/>
                  </a:solidFill>
                  <a:latin typeface="HK Grotesk" panose="00000500000000000000"/>
                  <a:ea typeface="HK Grotesk" panose="00000500000000000000"/>
                  <a:cs typeface="HK Grotesk" panose="00000500000000000000"/>
                  <a:sym typeface="HK Grotesk" panose="00000500000000000000"/>
                </a:rPr>
                <a:t>Detailed structure of user and report interactions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142875"/>
              <a:ext cx="6425392" cy="64916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560"/>
                </a:lnSpc>
                <a:spcBef>
                  <a:spcPct val="0"/>
                </a:spcBef>
              </a:pPr>
              <a:r>
                <a:rPr lang="en-US" sz="7560" b="1" u="none" strike="noStrike" spc="-226">
                  <a:solidFill>
                    <a:srgbClr val="004B8D"/>
                  </a:solidFill>
                  <a:latin typeface="Bricolage Grotesque Semi-Bold" panose="020B0605040402000204"/>
                  <a:ea typeface="Bricolage Grotesque Semi-Bold" panose="020B0605040402000204"/>
                  <a:cs typeface="Bricolage Grotesque Semi-Bold" panose="020B0605040402000204"/>
                  <a:sym typeface="Bricolage Grotesque Semi-Bold" panose="020B0605040402000204"/>
                </a:rPr>
                <a:t>CrowdFix Nepal Database Schema Overview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429875" y="-260311"/>
            <a:ext cx="8517815" cy="10807622"/>
            <a:chOff x="0" y="0"/>
            <a:chExt cx="1747482" cy="22172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47482" cy="2217250"/>
            </a:xfrm>
            <a:custGeom>
              <a:avLst/>
              <a:gdLst/>
              <a:ahLst/>
              <a:cxnLst/>
              <a:rect l="l" t="t" r="r" b="b"/>
              <a:pathLst>
                <a:path w="1747482" h="2217250">
                  <a:moveTo>
                    <a:pt x="18178" y="0"/>
                  </a:moveTo>
                  <a:lnTo>
                    <a:pt x="1729304" y="0"/>
                  </a:lnTo>
                  <a:cubicBezTo>
                    <a:pt x="1739344" y="0"/>
                    <a:pt x="1747482" y="8139"/>
                    <a:pt x="1747482" y="18178"/>
                  </a:cubicBezTo>
                  <a:lnTo>
                    <a:pt x="1747482" y="2199072"/>
                  </a:lnTo>
                  <a:cubicBezTo>
                    <a:pt x="1747482" y="2209112"/>
                    <a:pt x="1739344" y="2217250"/>
                    <a:pt x="1729304" y="2217250"/>
                  </a:cubicBezTo>
                  <a:lnTo>
                    <a:pt x="18178" y="2217250"/>
                  </a:lnTo>
                  <a:cubicBezTo>
                    <a:pt x="8139" y="2217250"/>
                    <a:pt x="0" y="2209112"/>
                    <a:pt x="0" y="2199072"/>
                  </a:cubicBezTo>
                  <a:lnTo>
                    <a:pt x="0" y="18178"/>
                  </a:lnTo>
                  <a:cubicBezTo>
                    <a:pt x="0" y="8139"/>
                    <a:pt x="8139" y="0"/>
                    <a:pt x="18178" y="0"/>
                  </a:cubicBezTo>
                  <a:close/>
                </a:path>
              </a:pathLst>
            </a:custGeom>
            <a:blipFill>
              <a:blip r:embed="rId2"/>
              <a:stretch>
                <a:fillRect t="-40" b="-40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685800" y="103638"/>
            <a:ext cx="8324850" cy="6018769"/>
            <a:chOff x="0" y="133350"/>
            <a:chExt cx="11099800" cy="5662586"/>
          </a:xfrm>
        </p:grpSpPr>
        <p:sp>
          <p:nvSpPr>
            <p:cNvPr id="5" name="TextBox 5"/>
            <p:cNvSpPr txBox="1"/>
            <p:nvPr/>
          </p:nvSpPr>
          <p:spPr>
            <a:xfrm>
              <a:off x="0" y="133350"/>
              <a:ext cx="11099800" cy="25336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000"/>
                </a:lnSpc>
                <a:spcBef>
                  <a:spcPct val="0"/>
                </a:spcBef>
              </a:pPr>
              <a:r>
                <a:rPr lang="en-US" sz="7000" b="1" u="none" strike="noStrike" spc="-209">
                  <a:solidFill>
                    <a:srgbClr val="004B8D"/>
                  </a:solidFill>
                  <a:latin typeface="Bricolage Grotesque Semi-Bold" panose="020B0605040402000204"/>
                  <a:ea typeface="Bricolage Grotesque Semi-Bold" panose="020B0605040402000204"/>
                  <a:cs typeface="Bricolage Grotesque Semi-Bold" panose="020B0605040402000204"/>
                  <a:sym typeface="Bricolage Grotesque Semi-Bold" panose="020B0605040402000204"/>
                </a:rPr>
                <a:t>Mockup of CrowdFix Nepal Login Screen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4754033"/>
              <a:ext cx="11099800" cy="10419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80"/>
                </a:lnSpc>
                <a:spcBef>
                  <a:spcPct val="0"/>
                </a:spcBef>
              </a:pPr>
              <a:r>
                <a:rPr lang="en-US" sz="2400" u="none" strike="noStrike">
                  <a:solidFill>
                    <a:srgbClr val="4A4A4A"/>
                  </a:solidFill>
                  <a:latin typeface="HK Grotesk" panose="00000500000000000000"/>
                  <a:ea typeface="HK Grotesk" panose="00000500000000000000"/>
                  <a:cs typeface="HK Grotesk" panose="00000500000000000000"/>
                  <a:sym typeface="HK Grotesk" panose="00000500000000000000"/>
                </a:rPr>
                <a:t>The </a:t>
              </a:r>
              <a:r>
                <a:rPr lang="en-US" sz="2400" b="1" u="none" strike="noStrike">
                  <a:solidFill>
                    <a:srgbClr val="4A4A4A"/>
                  </a:solidFill>
                  <a:latin typeface="HK Grotesk Bold" panose="00000800000000000000"/>
                  <a:ea typeface="HK Grotesk Bold" panose="00000800000000000000"/>
                  <a:cs typeface="HK Grotesk Bold" panose="00000800000000000000"/>
                  <a:sym typeface="HK Grotesk Bold" panose="00000800000000000000"/>
                </a:rPr>
                <a:t>CrowdFix Nepal login screen</a:t>
              </a:r>
              <a:r>
                <a:rPr lang="en-US" sz="2400" u="none" strike="noStrike">
                  <a:solidFill>
                    <a:srgbClr val="4A4A4A"/>
                  </a:solidFill>
                  <a:latin typeface="HK Grotesk" panose="00000500000000000000"/>
                  <a:ea typeface="HK Grotesk" panose="00000500000000000000"/>
                  <a:cs typeface="HK Grotesk" panose="00000500000000000000"/>
                  <a:sym typeface="HK Grotesk" panose="00000500000000000000"/>
                </a:rPr>
                <a:t> features a clean design and intuitive layout, allowing users to quickly access the platform for reporting local issues and engaging with their community.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2941108"/>
              <a:ext cx="11099800" cy="8686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 u="none" strike="noStrike">
                  <a:solidFill>
                    <a:srgbClr val="4A4A4A"/>
                  </a:solidFill>
                  <a:latin typeface="Bricolage Grotesque Bold" panose="020B0605040402000204"/>
                  <a:ea typeface="Bricolage Grotesque Bold" panose="020B0605040402000204"/>
                  <a:cs typeface="Bricolage Grotesque Bold" panose="020B0605040402000204"/>
                  <a:sym typeface="Bricolage Grotesque Bold" panose="020B0605040402000204"/>
                </a:rPr>
                <a:t>User-Friendly Interface for Problem Reporting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32483839"/>
              </p:ext>
            </p:extLst>
          </p:nvPr>
        </p:nvGraphicFramePr>
        <p:xfrm>
          <a:off x="0" y="-38100"/>
          <a:ext cx="18257516" cy="10287047"/>
        </p:xfrm>
        <a:graphic>
          <a:graphicData uri="http://schemas.openxmlformats.org/drawingml/2006/table">
            <a:tbl>
              <a:tblPr/>
              <a:tblGrid>
                <a:gridCol w="616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5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94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604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66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07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0348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71260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34502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6449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0333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3898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863217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110975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421403">
                <a:tc gridSpan="14">
                  <a:txBody>
                    <a:bodyPr/>
                    <a:lstStyle/>
                    <a:p>
                      <a:pPr algn="ctr" fontAlgn="ctr"/>
                      <a:r>
                        <a:rPr sz="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Requirements Traceability Matrix</a:t>
                      </a:r>
                      <a:r>
                        <a:rPr lang="en-US" sz="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4</a:t>
                      </a: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2E75B6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>
                      <a:solidFill>
                        <a:srgbClr val="2E75B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2E75B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>
                      <a:solidFill>
                        <a:srgbClr val="2E75B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2E75B6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>
                      <a:solidFill>
                        <a:srgbClr val="2E75B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2E75B6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>
                      <a:solidFill>
                        <a:srgbClr val="2E75B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2E75B6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>
                      <a:solidFill>
                        <a:srgbClr val="2E75B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2E75B6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>
                      <a:solidFill>
                        <a:srgbClr val="2E75B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2E75B6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>
                      <a:solidFill>
                        <a:srgbClr val="2E75B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2E75B6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>
                      <a:solidFill>
                        <a:srgbClr val="2E75B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2E75B6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>
                      <a:solidFill>
                        <a:srgbClr val="2E75B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2E75B6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>
                      <a:solidFill>
                        <a:srgbClr val="2E75B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2E75B6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>
                      <a:solidFill>
                        <a:srgbClr val="2E75B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2E75B6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>
                      <a:solidFill>
                        <a:srgbClr val="2E75B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2E75B6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>
                      <a:solidFill>
                        <a:srgbClr val="2E75B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2E75B6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R>
                      <a:noFill/>
                    </a:lnR>
                    <a:lnT w="12700" cap="flat" cmpd="sng">
                      <a:solidFill>
                        <a:srgbClr val="2E75B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2E75B6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366">
                <a:tc gridSpan="14">
                  <a:txBody>
                    <a:bodyPr/>
                    <a:lstStyle/>
                    <a:p>
                      <a:pPr algn="ctr" fontAlgn="ctr"/>
                      <a:r>
                        <a:rPr sz="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Crowdfix  — Community Problem Reporting Application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2E75B6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F4E7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>
                      <a:solidFill>
                        <a:srgbClr val="2E75B6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>
                      <a:solidFill>
                        <a:srgbClr val="2E75B6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>
                      <a:solidFill>
                        <a:srgbClr val="2E75B6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>
                      <a:solidFill>
                        <a:srgbClr val="2E75B6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>
                      <a:solidFill>
                        <a:srgbClr val="2E75B6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>
                      <a:solidFill>
                        <a:srgbClr val="2E75B6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>
                      <a:solidFill>
                        <a:srgbClr val="2E75B6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>
                      <a:solidFill>
                        <a:srgbClr val="2E75B6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>
                      <a:solidFill>
                        <a:srgbClr val="2E75B6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>
                      <a:solidFill>
                        <a:srgbClr val="2E75B6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>
                      <a:solidFill>
                        <a:srgbClr val="2E75B6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>
                      <a:solidFill>
                        <a:srgbClr val="2E75B6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R>
                      <a:noFill/>
                    </a:lnR>
                    <a:lnT w="12700" cap="flat" cmpd="sng">
                      <a:solidFill>
                        <a:srgbClr val="2E75B6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366">
                <a:tc gridSpan="14">
                  <a:txBody>
                    <a:bodyPr/>
                    <a:lstStyle/>
                    <a:p>
                      <a:pPr algn="ctr" fontAlgn="ctr"/>
                      <a:r>
                        <a:rPr sz="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Team Crowdfix (Sapkota Pretik . Bhotey Umang . BK Dol Bahadur . Basnet Anjali)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4E7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7802">
                <a:tc gridSpan="14">
                  <a:txBody>
                    <a:bodyPr/>
                    <a:lstStyle/>
                    <a:p>
                      <a:pPr algn="ctr" fontAlgn="ctr"/>
                      <a:r>
                        <a:rPr sz="200" b="0" i="1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SRS v1.0 · Requirements → Test Cases  |  31 Requirements  |  53 Test Cases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>
                      <a:noFill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>
                      <a:noFill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>
                      <a:noFill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>
                      <a:noFill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>
                      <a:noFill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>
                      <a:noFill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>
                      <a:noFill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>
                      <a:noFill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>
                      <a:noFill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>
                      <a:noFill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>
                      <a:noFill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>
                      <a:noFill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7802"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Req. ID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Type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Subsystem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Requirement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Priority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Test Case ID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Test Case Name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Test Description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Expected Result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Test Status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43F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Test Result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43F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Defect ID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43F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Defect Status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43F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Developer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43F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7802"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1D6A5B"/>
                          </a:solidFill>
                          <a:latin typeface="Calibri" panose="020F0502020204030204"/>
                          <a:ea typeface="Calibri" panose="020F0502020204030204"/>
                        </a:rPr>
                        <a:t>FR-01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0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Functional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1" i="0">
                          <a:solidFill>
                            <a:srgbClr val="1D6A5B"/>
                          </a:solidFill>
                          <a:latin typeface="Calibri" panose="020F0502020204030204"/>
                          <a:ea typeface="Calibri" panose="020F0502020204030204"/>
                        </a:rPr>
                        <a:t>Authentication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Users can register via email/password or OAuth (Google, Facebook)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C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High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1F4E79"/>
                          </a:solidFill>
                          <a:latin typeface="Calibri" panose="020F0502020204030204"/>
                          <a:ea typeface="Calibri" panose="020F0502020204030204"/>
                        </a:rPr>
                        <a:t>TC-01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Register with email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Enter valid email, password; submit registration form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Account created; verification email sent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595959"/>
                          </a:solidFill>
                          <a:latin typeface="Calibri" panose="020F0502020204030204"/>
                          <a:ea typeface="Calibri" panose="020F0502020204030204"/>
                        </a:rPr>
                        <a:t>Not Run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7802"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AAAAAA"/>
                          </a:solidFill>
                          <a:latin typeface="Calibri" panose="020F0502020204030204"/>
                          <a:ea typeface="Calibri" panose="020F0502020204030204"/>
                        </a:rPr>
                        <a:t>FR-01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0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Functional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1" i="0">
                          <a:solidFill>
                            <a:srgbClr val="1D6A5B"/>
                          </a:solidFill>
                          <a:latin typeface="Calibri" panose="020F0502020204030204"/>
                          <a:ea typeface="Calibri" panose="020F0502020204030204"/>
                        </a:rPr>
                        <a:t>Authentication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Users can register via email/password or OAuth (Google, Facebook)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C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High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1F4E79"/>
                          </a:solidFill>
                          <a:latin typeface="Calibri" panose="020F0502020204030204"/>
                          <a:ea typeface="Calibri" panose="020F0502020204030204"/>
                        </a:rPr>
                        <a:t>TC-02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Register with Google OAuth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Click 'Sign in with Google'; complete OAuth flow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Account created and linked to Google; user logged in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595959"/>
                          </a:solidFill>
                          <a:latin typeface="Calibri" panose="020F0502020204030204"/>
                          <a:ea typeface="Calibri" panose="020F0502020204030204"/>
                        </a:rPr>
                        <a:t>Not Run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7802"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1D6A5B"/>
                          </a:solidFill>
                          <a:latin typeface="Calibri" panose="020F0502020204030204"/>
                          <a:ea typeface="Calibri" panose="020F0502020204030204"/>
                        </a:rPr>
                        <a:t>FR-02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0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Functional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1" i="0">
                          <a:solidFill>
                            <a:srgbClr val="1D6A5B"/>
                          </a:solidFill>
                          <a:latin typeface="Calibri" panose="020F0502020204030204"/>
                          <a:ea typeface="Calibri" panose="020F0502020204030204"/>
                        </a:rPr>
                        <a:t>Authentication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Email addresses are validated via a verification link before account activation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C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High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1F4E79"/>
                          </a:solidFill>
                          <a:latin typeface="Calibri" panose="020F0502020204030204"/>
                          <a:ea typeface="Calibri" panose="020F0502020204030204"/>
                        </a:rPr>
                        <a:t>TC-03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Email verification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Register; click verification link in email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Account status changes to Active; login allowed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595959"/>
                          </a:solidFill>
                          <a:latin typeface="Calibri" panose="020F0502020204030204"/>
                          <a:ea typeface="Calibri" panose="020F0502020204030204"/>
                        </a:rPr>
                        <a:t>Not Run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7802"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AAAAAA"/>
                          </a:solidFill>
                          <a:latin typeface="Calibri" panose="020F0502020204030204"/>
                          <a:ea typeface="Calibri" panose="020F0502020204030204"/>
                        </a:rPr>
                        <a:t>FR-02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0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Functional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1" i="0">
                          <a:solidFill>
                            <a:srgbClr val="1D6A5B"/>
                          </a:solidFill>
                          <a:latin typeface="Calibri" panose="020F0502020204030204"/>
                          <a:ea typeface="Calibri" panose="020F0502020204030204"/>
                        </a:rPr>
                        <a:t>Authentication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Email addresses are validated via a verification link before account activation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C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High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1F4E79"/>
                          </a:solidFill>
                          <a:latin typeface="Calibri" panose="020F0502020204030204"/>
                          <a:ea typeface="Calibri" panose="020F0502020204030204"/>
                        </a:rPr>
                        <a:t>TC-04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Login without verifying email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Register; attempt login before verifying email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Login rejected; prompt shown to verify email first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595959"/>
                          </a:solidFill>
                          <a:latin typeface="Calibri" panose="020F0502020204030204"/>
                          <a:ea typeface="Calibri" panose="020F0502020204030204"/>
                        </a:rPr>
                        <a:t>Not Run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7802"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1D6A5B"/>
                          </a:solidFill>
                          <a:latin typeface="Calibri" panose="020F0502020204030204"/>
                          <a:ea typeface="Calibri" panose="020F0502020204030204"/>
                        </a:rPr>
                        <a:t>FR-03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0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Functional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1" i="0">
                          <a:solidFill>
                            <a:srgbClr val="1D6A5B"/>
                          </a:solidFill>
                          <a:latin typeface="Calibri" panose="020F0502020204030204"/>
                          <a:ea typeface="Calibri" panose="020F0502020204030204"/>
                        </a:rPr>
                        <a:t>Authentication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Password hashing enforced (bcrypt, min cost factor 10)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C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High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1F4E79"/>
                          </a:solidFill>
                          <a:latin typeface="Calibri" panose="020F0502020204030204"/>
                          <a:ea typeface="Calibri" panose="020F0502020204030204"/>
                        </a:rPr>
                        <a:t>TC-05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Password stored securely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Register user; inspect DB record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Password field contains bcrypt hash, not plaintext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595959"/>
                          </a:solidFill>
                          <a:latin typeface="Calibri" panose="020F0502020204030204"/>
                          <a:ea typeface="Calibri" panose="020F0502020204030204"/>
                        </a:rPr>
                        <a:t>Not Run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7802"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1D6A5B"/>
                          </a:solidFill>
                          <a:latin typeface="Calibri" panose="020F0502020204030204"/>
                          <a:ea typeface="Calibri" panose="020F0502020204030204"/>
                        </a:rPr>
                        <a:t>FR-04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0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Functional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1" i="0">
                          <a:solidFill>
                            <a:srgbClr val="1D6A5B"/>
                          </a:solidFill>
                          <a:latin typeface="Calibri" panose="020F0502020204030204"/>
                          <a:ea typeface="Calibri" panose="020F0502020204030204"/>
                        </a:rPr>
                        <a:t>Authentication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Password reset via email OTP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C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High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1F4E79"/>
                          </a:solidFill>
                          <a:latin typeface="Calibri" panose="020F0502020204030204"/>
                          <a:ea typeface="Calibri" panose="020F0502020204030204"/>
                        </a:rPr>
                        <a:t>TC-06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Password reset flow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Click 'Forgot password'; enter email; use OTP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Password successfully reset; old password no longer works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595959"/>
                          </a:solidFill>
                          <a:latin typeface="Calibri" panose="020F0502020204030204"/>
                          <a:ea typeface="Calibri" panose="020F0502020204030204"/>
                        </a:rPr>
                        <a:t>Not Run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7802"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1D6A5B"/>
                          </a:solidFill>
                          <a:latin typeface="Calibri" panose="020F0502020204030204"/>
                          <a:ea typeface="Calibri" panose="020F0502020204030204"/>
                        </a:rPr>
                        <a:t>FR-05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0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Functional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1" i="0">
                          <a:solidFill>
                            <a:srgbClr val="1D6A5B"/>
                          </a:solidFill>
                          <a:latin typeface="Calibri" panose="020F0502020204030204"/>
                          <a:ea typeface="Calibri" panose="020F0502020204030204"/>
                        </a:rPr>
                        <a:t>Authentication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Users can update profile name, photo, contact details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C07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Medium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1F4E79"/>
                          </a:solidFill>
                          <a:latin typeface="Calibri" panose="020F0502020204030204"/>
                          <a:ea typeface="Calibri" panose="020F0502020204030204"/>
                        </a:rPr>
                        <a:t>TC-07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Edit profile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Change display name and photo; save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Profile updated and reflected immediately in UI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595959"/>
                          </a:solidFill>
                          <a:latin typeface="Calibri" panose="020F0502020204030204"/>
                          <a:ea typeface="Calibri" panose="020F0502020204030204"/>
                        </a:rPr>
                        <a:t>Not Run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7802"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1D6A5B"/>
                          </a:solidFill>
                          <a:latin typeface="Calibri" panose="020F0502020204030204"/>
                          <a:ea typeface="Calibri" panose="020F0502020204030204"/>
                        </a:rPr>
                        <a:t>FR-06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0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Functional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1" i="0">
                          <a:solidFill>
                            <a:srgbClr val="1D6A5B"/>
                          </a:solidFill>
                          <a:latin typeface="Calibri" panose="020F0502020204030204"/>
                          <a:ea typeface="Calibri" panose="020F0502020204030204"/>
                        </a:rPr>
                        <a:t>Authentication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Admin can deactivate or ban user accounts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C07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Medium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1F4E79"/>
                          </a:solidFill>
                          <a:latin typeface="Calibri" panose="020F0502020204030204"/>
                          <a:ea typeface="Calibri" panose="020F0502020204030204"/>
                        </a:rPr>
                        <a:t>TC-08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Admin deactivates user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Admin opens user record; clicks Deactivate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User cannot log in; sees account deactivated message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595959"/>
                          </a:solidFill>
                          <a:latin typeface="Calibri" panose="020F0502020204030204"/>
                          <a:ea typeface="Calibri" panose="020F0502020204030204"/>
                        </a:rPr>
                        <a:t>Not Run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7802"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3B1F6E"/>
                          </a:solidFill>
                          <a:latin typeface="Calibri" panose="020F0502020204030204"/>
                          <a:ea typeface="Calibri" panose="020F0502020204030204"/>
                        </a:rPr>
                        <a:t>FR-07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AE3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0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Functional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1" i="0">
                          <a:solidFill>
                            <a:srgbClr val="3B1F6E"/>
                          </a:solidFill>
                          <a:latin typeface="Calibri" panose="020F0502020204030204"/>
                          <a:ea typeface="Calibri" panose="020F0502020204030204"/>
                        </a:rPr>
                        <a:t>Report Submission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AE3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Submit a report with title, category, description, photo(s), location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AE3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C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High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AE3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1F4E79"/>
                          </a:solidFill>
                          <a:latin typeface="Calibri" panose="020F0502020204030204"/>
                          <a:ea typeface="Calibri" panose="020F0502020204030204"/>
                        </a:rPr>
                        <a:t>TC-09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Submit full report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AE3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Fill all fields; attach photo; submit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AE3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Report created with unique ID; appears on map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AE3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595959"/>
                          </a:solidFill>
                          <a:latin typeface="Calibri" panose="020F0502020204030204"/>
                          <a:ea typeface="Calibri" panose="020F0502020204030204"/>
                        </a:rPr>
                        <a:t>Not Run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7802"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AAAAAA"/>
                          </a:solidFill>
                          <a:latin typeface="Calibri" panose="020F0502020204030204"/>
                          <a:ea typeface="Calibri" panose="020F0502020204030204"/>
                        </a:rPr>
                        <a:t>FR-07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0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Functional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1" i="0">
                          <a:solidFill>
                            <a:srgbClr val="3B1F6E"/>
                          </a:solidFill>
                          <a:latin typeface="Calibri" panose="020F0502020204030204"/>
                          <a:ea typeface="Calibri" panose="020F0502020204030204"/>
                        </a:rPr>
                        <a:t>Report Submission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AE3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Submit a report with title, category, description, photo(s), location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C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High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1F4E79"/>
                          </a:solidFill>
                          <a:latin typeface="Calibri" panose="020F0502020204030204"/>
                          <a:ea typeface="Calibri" panose="020F0502020204030204"/>
                        </a:rPr>
                        <a:t>TC-10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Submit report with missing required field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Leave title blank; submit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Validation error shown; report not created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595959"/>
                          </a:solidFill>
                          <a:latin typeface="Calibri" panose="020F0502020204030204"/>
                          <a:ea typeface="Calibri" panose="020F0502020204030204"/>
                        </a:rPr>
                        <a:t>Not Run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7802"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3B1F6E"/>
                          </a:solidFill>
                          <a:latin typeface="Calibri" panose="020F0502020204030204"/>
                          <a:ea typeface="Calibri" panose="020F0502020204030204"/>
                        </a:rPr>
                        <a:t>FR-08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AE3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0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Functional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1" i="0">
                          <a:solidFill>
                            <a:srgbClr val="3B1F6E"/>
                          </a:solidFill>
                          <a:latin typeface="Calibri" panose="020F0502020204030204"/>
                          <a:ea typeface="Calibri" panose="020F0502020204030204"/>
                        </a:rPr>
                        <a:t>Report Submission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AE3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Auto-detect GPS coordinates; allow manual map adjustment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AE3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C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High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AE3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1F4E79"/>
                          </a:solidFill>
                          <a:latin typeface="Calibri" panose="020F0502020204030204"/>
                          <a:ea typeface="Calibri" panose="020F0502020204030204"/>
                        </a:rPr>
                        <a:t>TC-11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Auto GPS detection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AE3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Open new report form with location enabled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AE3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Current GPS coordinates pre-filled on map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AE3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595959"/>
                          </a:solidFill>
                          <a:latin typeface="Calibri" panose="020F0502020204030204"/>
                          <a:ea typeface="Calibri" panose="020F0502020204030204"/>
                        </a:rPr>
                        <a:t>Not Run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7802"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AAAAAA"/>
                          </a:solidFill>
                          <a:latin typeface="Calibri" panose="020F0502020204030204"/>
                          <a:ea typeface="Calibri" panose="020F0502020204030204"/>
                        </a:rPr>
                        <a:t>FR-08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0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Functional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1" i="0">
                          <a:solidFill>
                            <a:srgbClr val="3B1F6E"/>
                          </a:solidFill>
                          <a:latin typeface="Calibri" panose="020F0502020204030204"/>
                          <a:ea typeface="Calibri" panose="020F0502020204030204"/>
                        </a:rPr>
                        <a:t>Report Submission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AE3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Auto-detect GPS coordinates; allow manual map adjustment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C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High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1F4E79"/>
                          </a:solidFill>
                          <a:latin typeface="Calibri" panose="020F0502020204030204"/>
                          <a:ea typeface="Calibri" panose="020F0502020204030204"/>
                        </a:rPr>
                        <a:t>TC-12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Manual pin adjustment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Drag map pin to different location; submit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Report saved with manually adjusted coordinates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595959"/>
                          </a:solidFill>
                          <a:latin typeface="Calibri" panose="020F0502020204030204"/>
                          <a:ea typeface="Calibri" panose="020F0502020204030204"/>
                        </a:rPr>
                        <a:t>Not Run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7802"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3B1F6E"/>
                          </a:solidFill>
                          <a:latin typeface="Calibri" panose="020F0502020204030204"/>
                          <a:ea typeface="Calibri" panose="020F0502020204030204"/>
                        </a:rPr>
                        <a:t>FR-09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AE3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0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Functional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1" i="0">
                          <a:solidFill>
                            <a:srgbClr val="3B1F6E"/>
                          </a:solidFill>
                          <a:latin typeface="Calibri" panose="020F0502020204030204"/>
                          <a:ea typeface="Calibri" panose="020F0502020204030204"/>
                        </a:rPr>
                        <a:t>Report Submission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AE3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Report categories: Infrastructure, Sanitation, Public Safety, Utilities, Environment, Other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AE3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C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High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AE3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1F4E79"/>
                          </a:solidFill>
                          <a:latin typeface="Calibri" panose="020F0502020204030204"/>
                          <a:ea typeface="Calibri" panose="020F0502020204030204"/>
                        </a:rPr>
                        <a:t>TC-13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Category selection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AE3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Open category dropdown; select each option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AE3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All 6 categories available and selectable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AE3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595959"/>
                          </a:solidFill>
                          <a:latin typeface="Calibri" panose="020F0502020204030204"/>
                          <a:ea typeface="Calibri" panose="020F0502020204030204"/>
                        </a:rPr>
                        <a:t>Not Run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67802"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3B1F6E"/>
                          </a:solidFill>
                          <a:latin typeface="Calibri" panose="020F0502020204030204"/>
                          <a:ea typeface="Calibri" panose="020F0502020204030204"/>
                        </a:rPr>
                        <a:t>FR-10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AE3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0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Functional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1" i="0">
                          <a:solidFill>
                            <a:srgbClr val="3B1F6E"/>
                          </a:solidFill>
                          <a:latin typeface="Calibri" panose="020F0502020204030204"/>
                          <a:ea typeface="Calibri" panose="020F0502020204030204"/>
                        </a:rPr>
                        <a:t>Report Submission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AE3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Up to 5 photos per report, each up to 10 MB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C07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Medium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1F4E79"/>
                          </a:solidFill>
                          <a:latin typeface="Calibri" panose="020F0502020204030204"/>
                          <a:ea typeface="Calibri" panose="020F0502020204030204"/>
                        </a:rPr>
                        <a:t>TC-14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Photo upload limit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Attach 5 photos each under 10 MB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All 5 photos uploaded successfully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595959"/>
                          </a:solidFill>
                          <a:latin typeface="Calibri" panose="020F0502020204030204"/>
                          <a:ea typeface="Calibri" panose="020F0502020204030204"/>
                        </a:rPr>
                        <a:t>Not Run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67802"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AAAAAA"/>
                          </a:solidFill>
                          <a:latin typeface="Calibri" panose="020F0502020204030204"/>
                          <a:ea typeface="Calibri" panose="020F0502020204030204"/>
                        </a:rPr>
                        <a:t>FR-10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0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Functional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1" i="0">
                          <a:solidFill>
                            <a:srgbClr val="3B1F6E"/>
                          </a:solidFill>
                          <a:latin typeface="Calibri" panose="020F0502020204030204"/>
                          <a:ea typeface="Calibri" panose="020F0502020204030204"/>
                        </a:rPr>
                        <a:t>Report Submission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AE3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Up to 5 photos per report, each up to 10 MB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AE3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C07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Medium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AE3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1F4E79"/>
                          </a:solidFill>
                          <a:latin typeface="Calibri" panose="020F0502020204030204"/>
                          <a:ea typeface="Calibri" panose="020F0502020204030204"/>
                        </a:rPr>
                        <a:t>TC-15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Exceed photo file size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AE3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Attach a photo larger than 10 MB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AE3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Error shown; oversized photo rejected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AE3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595959"/>
                          </a:solidFill>
                          <a:latin typeface="Calibri" panose="020F0502020204030204"/>
                          <a:ea typeface="Calibri" panose="020F0502020204030204"/>
                        </a:rPr>
                        <a:t>Not Run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67802"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3B1F6E"/>
                          </a:solidFill>
                          <a:latin typeface="Calibri" panose="020F0502020204030204"/>
                          <a:ea typeface="Calibri" panose="020F0502020204030204"/>
                        </a:rPr>
                        <a:t>FR-11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AE3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0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Functional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1" i="0">
                          <a:solidFill>
                            <a:srgbClr val="3B1F6E"/>
                          </a:solidFill>
                          <a:latin typeface="Calibri" panose="020F0502020204030204"/>
                          <a:ea typeface="Calibri" panose="020F0502020204030204"/>
                        </a:rPr>
                        <a:t>Report Submission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AE3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Unique report ID and timestamp assigned on submission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C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High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1F4E79"/>
                          </a:solidFill>
                          <a:latin typeface="Calibri" panose="020F0502020204030204"/>
                          <a:ea typeface="Calibri" panose="020F0502020204030204"/>
                        </a:rPr>
                        <a:t>TC-16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Report ID assigned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Submit a valid report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Report record has unique ID and correct timestamp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595959"/>
                          </a:solidFill>
                          <a:latin typeface="Calibri" panose="020F0502020204030204"/>
                          <a:ea typeface="Calibri" panose="020F0502020204030204"/>
                        </a:rPr>
                        <a:t>Not Run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67802"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3B1F6E"/>
                          </a:solidFill>
                          <a:latin typeface="Calibri" panose="020F0502020204030204"/>
                          <a:ea typeface="Calibri" panose="020F0502020204030204"/>
                        </a:rPr>
                        <a:t>FR-12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AE3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0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Functional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1" i="0">
                          <a:solidFill>
                            <a:srgbClr val="3B1F6E"/>
                          </a:solidFill>
                          <a:latin typeface="Calibri" panose="020F0502020204030204"/>
                          <a:ea typeface="Calibri" panose="020F0502020204030204"/>
                        </a:rPr>
                        <a:t>Report Submission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AE3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Draft saving for offline submissions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AE3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375623"/>
                          </a:solidFill>
                          <a:latin typeface="Calibri" panose="020F0502020204030204"/>
                          <a:ea typeface="Calibri" panose="020F0502020204030204"/>
                        </a:rPr>
                        <a:t>Low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AE3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1F4E79"/>
                          </a:solidFill>
                          <a:latin typeface="Calibri" panose="020F0502020204030204"/>
                          <a:ea typeface="Calibri" panose="020F0502020204030204"/>
                        </a:rPr>
                        <a:t>TC-17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Save draft offline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AE3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Disable network; fill form; save draft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AE3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Draft saved locally; visible in Drafts list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AE3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595959"/>
                          </a:solidFill>
                          <a:latin typeface="Calibri" panose="020F0502020204030204"/>
                          <a:ea typeface="Calibri" panose="020F0502020204030204"/>
                        </a:rPr>
                        <a:t>Not Run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67802"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3B1F6E"/>
                          </a:solidFill>
                          <a:latin typeface="Calibri" panose="020F0502020204030204"/>
                          <a:ea typeface="Calibri" panose="020F0502020204030204"/>
                        </a:rPr>
                        <a:t>FR-13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AE3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0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Functional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1" i="0">
                          <a:solidFill>
                            <a:srgbClr val="3B1F6E"/>
                          </a:solidFill>
                          <a:latin typeface="Calibri" panose="020F0502020204030204"/>
                          <a:ea typeface="Calibri" panose="020F0502020204030204"/>
                        </a:rPr>
                        <a:t>Report Submission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AE3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Reporter can edit report within 30 minutes of submission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C07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Medium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1F4E79"/>
                          </a:solidFill>
                          <a:latin typeface="Calibri" panose="020F0502020204030204"/>
                          <a:ea typeface="Calibri" panose="020F0502020204030204"/>
                        </a:rPr>
                        <a:t>TC-18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Edit within 30 min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Submit report; edit title within 30 min window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Edit saved successfully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595959"/>
                          </a:solidFill>
                          <a:latin typeface="Calibri" panose="020F0502020204030204"/>
                          <a:ea typeface="Calibri" panose="020F0502020204030204"/>
                        </a:rPr>
                        <a:t>Not Run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67802"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AAAAAA"/>
                          </a:solidFill>
                          <a:latin typeface="Calibri" panose="020F0502020204030204"/>
                          <a:ea typeface="Calibri" panose="020F0502020204030204"/>
                        </a:rPr>
                        <a:t>FR-13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0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Functional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1" i="0">
                          <a:solidFill>
                            <a:srgbClr val="3B1F6E"/>
                          </a:solidFill>
                          <a:latin typeface="Calibri" panose="020F0502020204030204"/>
                          <a:ea typeface="Calibri" panose="020F0502020204030204"/>
                        </a:rPr>
                        <a:t>Report Submission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AE3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Reporter can edit report within 30 minutes of submission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AE3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C07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Medium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AE3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1F4E79"/>
                          </a:solidFill>
                          <a:latin typeface="Calibri" panose="020F0502020204030204"/>
                          <a:ea typeface="Calibri" panose="020F0502020204030204"/>
                        </a:rPr>
                        <a:t>TC-19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Edit after 30 min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AE3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Submit report; attempt edit after 30 min window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AE3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Edit option disabled or error shown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AE3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595959"/>
                          </a:solidFill>
                          <a:latin typeface="Calibri" panose="020F0502020204030204"/>
                          <a:ea typeface="Calibri" panose="020F0502020204030204"/>
                        </a:rPr>
                        <a:t>Not Run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67802"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7F6000"/>
                          </a:solidFill>
                          <a:latin typeface="Calibri" panose="020F0502020204030204"/>
                          <a:ea typeface="Calibri" panose="020F0502020204030204"/>
                        </a:rPr>
                        <a:t>FR-14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0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Functional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1" i="0">
                          <a:solidFill>
                            <a:srgbClr val="7F6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Community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Registered users can upvote any report (one per user per report)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C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High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1F4E79"/>
                          </a:solidFill>
                          <a:latin typeface="Calibri" panose="020F0502020204030204"/>
                          <a:ea typeface="Calibri" panose="020F0502020204030204"/>
                        </a:rPr>
                        <a:t>TC-20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Upvote a report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Logged-in user clicks upvote on a report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Upvote count increments by 1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595959"/>
                          </a:solidFill>
                          <a:latin typeface="Calibri" panose="020F0502020204030204"/>
                          <a:ea typeface="Calibri" panose="020F0502020204030204"/>
                        </a:rPr>
                        <a:t>Not Run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67802"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AAAAAA"/>
                          </a:solidFill>
                          <a:latin typeface="Calibri" panose="020F0502020204030204"/>
                          <a:ea typeface="Calibri" panose="020F0502020204030204"/>
                        </a:rPr>
                        <a:t>FR-14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0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Functional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1" i="0">
                          <a:solidFill>
                            <a:srgbClr val="7F6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Community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Registered users can upvote any report (one per user per report)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C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High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1F4E79"/>
                          </a:solidFill>
                          <a:latin typeface="Calibri" panose="020F0502020204030204"/>
                          <a:ea typeface="Calibri" panose="020F0502020204030204"/>
                        </a:rPr>
                        <a:t>TC-21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Duplicate upvote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Upvote same report twice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Second upvote rejected; count unchanged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595959"/>
                          </a:solidFill>
                          <a:latin typeface="Calibri" panose="020F0502020204030204"/>
                          <a:ea typeface="Calibri" panose="020F0502020204030204"/>
                        </a:rPr>
                        <a:t>Not Run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167802"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7F6000"/>
                          </a:solidFill>
                          <a:latin typeface="Calibri" panose="020F0502020204030204"/>
                          <a:ea typeface="Calibri" panose="020F0502020204030204"/>
                        </a:rPr>
                        <a:t>FR-15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0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Functional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1" i="0">
                          <a:solidFill>
                            <a:srgbClr val="7F6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Community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Users can retract their upvote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C07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Medium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1F4E79"/>
                          </a:solidFill>
                          <a:latin typeface="Calibri" panose="020F0502020204030204"/>
                          <a:ea typeface="Calibri" panose="020F0502020204030204"/>
                        </a:rPr>
                        <a:t>TC-22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Retract upvote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Upvote a report; click upvote again to retract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Upvote count decrements by 1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595959"/>
                          </a:solidFill>
                          <a:latin typeface="Calibri" panose="020F0502020204030204"/>
                          <a:ea typeface="Calibri" panose="020F0502020204030204"/>
                        </a:rPr>
                        <a:t>Not Run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167802"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7F6000"/>
                          </a:solidFill>
                          <a:latin typeface="Calibri" panose="020F0502020204030204"/>
                          <a:ea typeface="Calibri" panose="020F0502020204030204"/>
                        </a:rPr>
                        <a:t>FR-16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0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Functional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1" i="0">
                          <a:solidFill>
                            <a:srgbClr val="7F6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Community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Registered users can post text comments on reports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C07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Medium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1F4E79"/>
                          </a:solidFill>
                          <a:latin typeface="Calibri" panose="020F0502020204030204"/>
                          <a:ea typeface="Calibri" panose="020F0502020204030204"/>
                        </a:rPr>
                        <a:t>TC-23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Post a comment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Type comment text; submit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Comment appears in report thread with timestamp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595959"/>
                          </a:solidFill>
                          <a:latin typeface="Calibri" panose="020F0502020204030204"/>
                          <a:ea typeface="Calibri" panose="020F0502020204030204"/>
                        </a:rPr>
                        <a:t>Not Run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167802"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7F6000"/>
                          </a:solidFill>
                          <a:latin typeface="Calibri" panose="020F0502020204030204"/>
                          <a:ea typeface="Calibri" panose="020F0502020204030204"/>
                        </a:rPr>
                        <a:t>FR-17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0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Functional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1" i="0">
                          <a:solidFill>
                            <a:srgbClr val="7F6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Community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Comment authors can delete their own comments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375623"/>
                          </a:solidFill>
                          <a:latin typeface="Calibri" panose="020F0502020204030204"/>
                          <a:ea typeface="Calibri" panose="020F0502020204030204"/>
                        </a:rPr>
                        <a:t>Low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1F4E79"/>
                          </a:solidFill>
                          <a:latin typeface="Calibri" panose="020F0502020204030204"/>
                          <a:ea typeface="Calibri" panose="020F0502020204030204"/>
                        </a:rPr>
                        <a:t>TC-24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Delete own comment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Click delete on own comment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Comment removed from thread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595959"/>
                          </a:solidFill>
                          <a:latin typeface="Calibri" panose="020F0502020204030204"/>
                          <a:ea typeface="Calibri" panose="020F0502020204030204"/>
                        </a:rPr>
                        <a:t>Not Run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  <a:tr h="167802"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7F6000"/>
                          </a:solidFill>
                          <a:latin typeface="Calibri" panose="020F0502020204030204"/>
                          <a:ea typeface="Calibri" panose="020F0502020204030204"/>
                        </a:rPr>
                        <a:t>FR-18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0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Functional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1" i="0">
                          <a:solidFill>
                            <a:srgbClr val="7F6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Community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Admins can moderate and remove inappropriate comments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C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High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1F4E79"/>
                          </a:solidFill>
                          <a:latin typeface="Calibri" panose="020F0502020204030204"/>
                          <a:ea typeface="Calibri" panose="020F0502020204030204"/>
                        </a:rPr>
                        <a:t>TC-25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Admin removes comment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Admin clicks remove on any comment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Comment deleted regardless of author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595959"/>
                          </a:solidFill>
                          <a:latin typeface="Calibri" panose="020F0502020204030204"/>
                          <a:ea typeface="Calibri" panose="020F0502020204030204"/>
                        </a:rPr>
                        <a:t>Not Run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9"/>
                  </a:ext>
                </a:extLst>
              </a:tr>
              <a:tr h="167802"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7B2020"/>
                          </a:solidFill>
                          <a:latin typeface="Calibri" panose="020F0502020204030204"/>
                          <a:ea typeface="Calibri" panose="020F0502020204030204"/>
                        </a:rPr>
                        <a:t>FR-19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0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Functional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1" i="0">
                          <a:solidFill>
                            <a:srgbClr val="7B2020"/>
                          </a:solidFill>
                          <a:latin typeface="Calibri" panose="020F0502020204030204"/>
                          <a:ea typeface="Calibri" panose="020F0502020204030204"/>
                        </a:rPr>
                        <a:t>Status Management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Report lifecycle: Open → Assigned → In Progress → Resolved → Closed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C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High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1F4E79"/>
                          </a:solidFill>
                          <a:latin typeface="Calibri" panose="020F0502020204030204"/>
                          <a:ea typeface="Calibri" panose="020F0502020204030204"/>
                        </a:rPr>
                        <a:t>TC-26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Status lifecycle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Authority moves report through all statuses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Each status transition recorded with timestamp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595959"/>
                          </a:solidFill>
                          <a:latin typeface="Calibri" panose="020F0502020204030204"/>
                          <a:ea typeface="Calibri" panose="020F0502020204030204"/>
                        </a:rPr>
                        <a:t>Not Run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0"/>
                  </a:ext>
                </a:extLst>
              </a:tr>
              <a:tr h="167802"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7B2020"/>
                          </a:solidFill>
                          <a:latin typeface="Calibri" panose="020F0502020204030204"/>
                          <a:ea typeface="Calibri" panose="020F0502020204030204"/>
                        </a:rPr>
                        <a:t>FR-20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0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Functional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1" i="0">
                          <a:solidFill>
                            <a:srgbClr val="7B2020"/>
                          </a:solidFill>
                          <a:latin typeface="Calibri" panose="020F0502020204030204"/>
                          <a:ea typeface="Calibri" panose="020F0502020204030204"/>
                        </a:rPr>
                        <a:t>Status Management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Authorities update report status from dashboard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C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High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1F4E79"/>
                          </a:solidFill>
                          <a:latin typeface="Calibri" panose="020F0502020204030204"/>
                          <a:ea typeface="Calibri" panose="020F0502020204030204"/>
                        </a:rPr>
                        <a:t>TC-27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Authority updates status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Authority selects report; changes status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Status updated; visible to all users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595959"/>
                          </a:solidFill>
                          <a:latin typeface="Calibri" panose="020F0502020204030204"/>
                          <a:ea typeface="Calibri" panose="020F0502020204030204"/>
                        </a:rPr>
                        <a:t>Not Run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1"/>
                  </a:ext>
                </a:extLst>
              </a:tr>
              <a:tr h="167802"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7B2020"/>
                          </a:solidFill>
                          <a:latin typeface="Calibri" panose="020F0502020204030204"/>
                          <a:ea typeface="Calibri" panose="020F0502020204030204"/>
                        </a:rPr>
                        <a:t>FR-21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0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Functional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1" i="0">
                          <a:solidFill>
                            <a:srgbClr val="7B2020"/>
                          </a:solidFill>
                          <a:latin typeface="Calibri" panose="020F0502020204030204"/>
                          <a:ea typeface="Calibri" panose="020F0502020204030204"/>
                        </a:rPr>
                        <a:t>Status Management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Authorities can attach resolution notes and photos when marking Resolved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C07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Medium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1F4E79"/>
                          </a:solidFill>
                          <a:latin typeface="Calibri" panose="020F0502020204030204"/>
                          <a:ea typeface="Calibri" panose="020F0502020204030204"/>
                        </a:rPr>
                        <a:t>TC-28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Attach resolution note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Mark report Resolved; add note and photo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Note and photo saved and visible on report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595959"/>
                          </a:solidFill>
                          <a:latin typeface="Calibri" panose="020F0502020204030204"/>
                          <a:ea typeface="Calibri" panose="020F0502020204030204"/>
                        </a:rPr>
                        <a:t>Not Run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2"/>
                  </a:ext>
                </a:extLst>
              </a:tr>
              <a:tr h="167802"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7B2020"/>
                          </a:solidFill>
                          <a:latin typeface="Calibri" panose="020F0502020204030204"/>
                          <a:ea typeface="Calibri" panose="020F0502020204030204"/>
                        </a:rPr>
                        <a:t>FR-22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0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Functional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1" i="0">
                          <a:solidFill>
                            <a:srgbClr val="7B2020"/>
                          </a:solidFill>
                          <a:latin typeface="Calibri" panose="020F0502020204030204"/>
                          <a:ea typeface="Calibri" panose="020F0502020204030204"/>
                        </a:rPr>
                        <a:t>Status Management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Reporter notified of every status change via push and/or email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C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High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1F4E79"/>
                          </a:solidFill>
                          <a:latin typeface="Calibri" panose="020F0502020204030204"/>
                          <a:ea typeface="Calibri" panose="020F0502020204030204"/>
                        </a:rPr>
                        <a:t>TC-29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Status change notification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Authority changes status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Reporter receives push notification within 30 seconds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595959"/>
                          </a:solidFill>
                          <a:latin typeface="Calibri" panose="020F0502020204030204"/>
                          <a:ea typeface="Calibri" panose="020F0502020204030204"/>
                        </a:rPr>
                        <a:t>Not Run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3"/>
                  </a:ext>
                </a:extLst>
              </a:tr>
              <a:tr h="167802"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7B2020"/>
                          </a:solidFill>
                          <a:latin typeface="Calibri" panose="020F0502020204030204"/>
                          <a:ea typeface="Calibri" panose="020F0502020204030204"/>
                        </a:rPr>
                        <a:t>FR-23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0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Functional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1" i="0">
                          <a:solidFill>
                            <a:srgbClr val="7B2020"/>
                          </a:solidFill>
                          <a:latin typeface="Calibri" panose="020F0502020204030204"/>
                          <a:ea typeface="Calibri" panose="020F0502020204030204"/>
                        </a:rPr>
                        <a:t>Status Management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Reports Resolved for 7+ days auto-close without dispute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375623"/>
                          </a:solidFill>
                          <a:latin typeface="Calibri" panose="020F0502020204030204"/>
                          <a:ea typeface="Calibri" panose="020F0502020204030204"/>
                        </a:rPr>
                        <a:t>Low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1F4E79"/>
                          </a:solidFill>
                          <a:latin typeface="Calibri" panose="020F0502020204030204"/>
                          <a:ea typeface="Calibri" panose="020F0502020204030204"/>
                        </a:rPr>
                        <a:t>TC-30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Auto-close after 7 days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Set report to Resolved; wait 7 days (or mock time)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Report status changes to Closed automatically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595959"/>
                          </a:solidFill>
                          <a:latin typeface="Calibri" panose="020F0502020204030204"/>
                          <a:ea typeface="Calibri" panose="020F0502020204030204"/>
                        </a:rPr>
                        <a:t>Not Run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4"/>
                  </a:ext>
                </a:extLst>
              </a:tr>
              <a:tr h="167802"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185FA5"/>
                          </a:solidFill>
                          <a:latin typeface="Calibri" panose="020F0502020204030204"/>
                          <a:ea typeface="Calibri" panose="020F0502020204030204"/>
                        </a:rPr>
                        <a:t>FR-24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0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Functional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1" i="0">
                          <a:solidFill>
                            <a:srgbClr val="185FA5"/>
                          </a:solidFill>
                          <a:latin typeface="Calibri" panose="020F0502020204030204"/>
                          <a:ea typeface="Calibri" panose="020F0502020204030204"/>
                        </a:rPr>
                        <a:t>Map View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All Open and In Progress reports shown on interactive map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C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High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1F4E79"/>
                          </a:solidFill>
                          <a:latin typeface="Calibri" panose="020F0502020204030204"/>
                          <a:ea typeface="Calibri" panose="020F0502020204030204"/>
                        </a:rPr>
                        <a:t>TC-31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Map displays reports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Open map view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All active reports shown as pins on map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595959"/>
                          </a:solidFill>
                          <a:latin typeface="Calibri" panose="020F0502020204030204"/>
                          <a:ea typeface="Calibri" panose="020F0502020204030204"/>
                        </a:rPr>
                        <a:t>Not Run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5"/>
                  </a:ext>
                </a:extLst>
              </a:tr>
              <a:tr h="167802"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185FA5"/>
                          </a:solidFill>
                          <a:latin typeface="Calibri" panose="020F0502020204030204"/>
                          <a:ea typeface="Calibri" panose="020F0502020204030204"/>
                        </a:rPr>
                        <a:t>FR-25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0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Functional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1" i="0">
                          <a:solidFill>
                            <a:srgbClr val="185FA5"/>
                          </a:solidFill>
                          <a:latin typeface="Calibri" panose="020F0502020204030204"/>
                          <a:ea typeface="Calibri" panose="020F0502020204030204"/>
                        </a:rPr>
                        <a:t>Map View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Map pins color-coded by category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C07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Medium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1F4E79"/>
                          </a:solidFill>
                          <a:latin typeface="Calibri" panose="020F0502020204030204"/>
                          <a:ea typeface="Calibri" panose="020F0502020204030204"/>
                        </a:rPr>
                        <a:t>TC-32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Color-coded pins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Open map with reports of different categories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Each category displays a distinct pin color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595959"/>
                          </a:solidFill>
                          <a:latin typeface="Calibri" panose="020F0502020204030204"/>
                          <a:ea typeface="Calibri" panose="020F0502020204030204"/>
                        </a:rPr>
                        <a:t>Not Run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6"/>
                  </a:ext>
                </a:extLst>
              </a:tr>
              <a:tr h="167802"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185FA5"/>
                          </a:solidFill>
                          <a:latin typeface="Calibri" panose="020F0502020204030204"/>
                          <a:ea typeface="Calibri" panose="020F0502020204030204"/>
                        </a:rPr>
                        <a:t>FR-26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0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Functional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1" i="0">
                          <a:solidFill>
                            <a:srgbClr val="185FA5"/>
                          </a:solidFill>
                          <a:latin typeface="Calibri" panose="020F0502020204030204"/>
                          <a:ea typeface="Calibri" panose="020F0502020204030204"/>
                        </a:rPr>
                        <a:t>Map View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Filter map by category, status, and date range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C07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Medium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1F4E79"/>
                          </a:solidFill>
                          <a:latin typeface="Calibri" panose="020F0502020204030204"/>
                          <a:ea typeface="Calibri" panose="020F0502020204030204"/>
                        </a:rPr>
                        <a:t>TC-33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Filter by category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Select 'Sanitation' filter on map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Only Sanitation reports shown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595959"/>
                          </a:solidFill>
                          <a:latin typeface="Calibri" panose="020F0502020204030204"/>
                          <a:ea typeface="Calibri" panose="020F0502020204030204"/>
                        </a:rPr>
                        <a:t>Not Run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7"/>
                  </a:ext>
                </a:extLst>
              </a:tr>
              <a:tr h="167802"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185FA5"/>
                          </a:solidFill>
                          <a:latin typeface="Calibri" panose="020F0502020204030204"/>
                          <a:ea typeface="Calibri" panose="020F0502020204030204"/>
                        </a:rPr>
                        <a:t>FR-27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0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Functional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1" i="0">
                          <a:solidFill>
                            <a:srgbClr val="185FA5"/>
                          </a:solidFill>
                          <a:latin typeface="Calibri" panose="020F0502020204030204"/>
                          <a:ea typeface="Calibri" panose="020F0502020204030204"/>
                        </a:rPr>
                        <a:t>Map View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Clicking a pin shows summary and link to full report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C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High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1F4E79"/>
                          </a:solidFill>
                          <a:latin typeface="Calibri" panose="020F0502020204030204"/>
                          <a:ea typeface="Calibri" panose="020F0502020204030204"/>
                        </a:rPr>
                        <a:t>TC-34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Pin click popup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Click a map pin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Popup shows title, status, upvotes, and link to full report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595959"/>
                          </a:solidFill>
                          <a:latin typeface="Calibri" panose="020F0502020204030204"/>
                          <a:ea typeface="Calibri" panose="020F0502020204030204"/>
                        </a:rPr>
                        <a:t>Not Run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8"/>
                  </a:ext>
                </a:extLst>
              </a:tr>
              <a:tr h="167802"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3B6D11"/>
                          </a:solidFill>
                          <a:latin typeface="Calibri" panose="020F0502020204030204"/>
                          <a:ea typeface="Calibri" panose="020F0502020204030204"/>
                        </a:rPr>
                        <a:t>FR-28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0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Functional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1" i="0">
                          <a:solidFill>
                            <a:srgbClr val="3B6D11"/>
                          </a:solidFill>
                          <a:latin typeface="Calibri" panose="020F0502020204030204"/>
                          <a:ea typeface="Calibri" panose="020F0502020204030204"/>
                        </a:rPr>
                        <a:t>Authority Dashboard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Authority dashboard lists all reports in their jurisdiction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C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High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1F4E79"/>
                          </a:solidFill>
                          <a:latin typeface="Calibri" panose="020F0502020204030204"/>
                          <a:ea typeface="Calibri" panose="020F0502020204030204"/>
                        </a:rPr>
                        <a:t>TC-35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Dashboard report list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Authority logs in; opens dashboard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Only reports within authority's jurisdiction are shown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595959"/>
                          </a:solidFill>
                          <a:latin typeface="Calibri" panose="020F0502020204030204"/>
                          <a:ea typeface="Calibri" panose="020F0502020204030204"/>
                        </a:rPr>
                        <a:t>Not Run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9"/>
                  </a:ext>
                </a:extLst>
              </a:tr>
              <a:tr h="167802"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3B6D11"/>
                          </a:solidFill>
                          <a:latin typeface="Calibri" panose="020F0502020204030204"/>
                          <a:ea typeface="Calibri" panose="020F0502020204030204"/>
                        </a:rPr>
                        <a:t>FR-29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0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Functional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1" i="0">
                          <a:solidFill>
                            <a:srgbClr val="3B6D11"/>
                          </a:solidFill>
                          <a:latin typeface="Calibri" panose="020F0502020204030204"/>
                          <a:ea typeface="Calibri" panose="020F0502020204030204"/>
                        </a:rPr>
                        <a:t>Authority Dashboard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Dashboard sorts by date, upvotes, category, status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C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High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1F4E79"/>
                          </a:solidFill>
                          <a:latin typeface="Calibri" panose="020F0502020204030204"/>
                          <a:ea typeface="Calibri" panose="020F0502020204030204"/>
                        </a:rPr>
                        <a:t>TC-36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Sort by upvotes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Click 'Upvotes' column header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Reports sorted descending by upvote count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595959"/>
                          </a:solidFill>
                          <a:latin typeface="Calibri" panose="020F0502020204030204"/>
                          <a:ea typeface="Calibri" panose="020F0502020204030204"/>
                        </a:rPr>
                        <a:t>Not Run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40"/>
                  </a:ext>
                </a:extLst>
              </a:tr>
              <a:tr h="167802"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3B6D11"/>
                          </a:solidFill>
                          <a:latin typeface="Calibri" panose="020F0502020204030204"/>
                          <a:ea typeface="Calibri" panose="020F0502020204030204"/>
                        </a:rPr>
                        <a:t>FR-30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0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Functional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1" i="0">
                          <a:solidFill>
                            <a:srgbClr val="3B6D11"/>
                          </a:solidFill>
                          <a:latin typeface="Calibri" panose="020F0502020204030204"/>
                          <a:ea typeface="Calibri" panose="020F0502020204030204"/>
                        </a:rPr>
                        <a:t>Authority Dashboard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Authorities can assign reports to specific field officers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C07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Medium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1F4E79"/>
                          </a:solidFill>
                          <a:latin typeface="Calibri" panose="020F0502020204030204"/>
                          <a:ea typeface="Calibri" panose="020F0502020204030204"/>
                        </a:rPr>
                        <a:t>TC-37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Assign to officer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Select report; assign to a field officer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Report shows assigned officer name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595959"/>
                          </a:solidFill>
                          <a:latin typeface="Calibri" panose="020F0502020204030204"/>
                          <a:ea typeface="Calibri" panose="020F0502020204030204"/>
                        </a:rPr>
                        <a:t>Not Run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41"/>
                  </a:ext>
                </a:extLst>
              </a:tr>
              <a:tr h="167802"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3B6D11"/>
                          </a:solidFill>
                          <a:latin typeface="Calibri" panose="020F0502020204030204"/>
                          <a:ea typeface="Calibri" panose="020F0502020204030204"/>
                        </a:rPr>
                        <a:t>FR-31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0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Functional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1" i="0">
                          <a:solidFill>
                            <a:srgbClr val="3B6D11"/>
                          </a:solidFill>
                          <a:latin typeface="Calibri" panose="020F0502020204030204"/>
                          <a:ea typeface="Calibri" panose="020F0502020204030204"/>
                        </a:rPr>
                        <a:t>Authority Dashboard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Export reports as CSV or PDF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375623"/>
                          </a:solidFill>
                          <a:latin typeface="Calibri" panose="020F0502020204030204"/>
                          <a:ea typeface="Calibri" panose="020F0502020204030204"/>
                        </a:rPr>
                        <a:t>Low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1F4E79"/>
                          </a:solidFill>
                          <a:latin typeface="Calibri" panose="020F0502020204030204"/>
                          <a:ea typeface="Calibri" panose="020F0502020204030204"/>
                        </a:rPr>
                        <a:t>TC-38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Export as CSV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Click Export → CSV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CSV file downloaded with all visible report data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595959"/>
                          </a:solidFill>
                          <a:latin typeface="Calibri" panose="020F0502020204030204"/>
                          <a:ea typeface="Calibri" panose="020F0502020204030204"/>
                        </a:rPr>
                        <a:t>Not Run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42"/>
                  </a:ext>
                </a:extLst>
              </a:tr>
              <a:tr h="167802"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7F6000"/>
                          </a:solidFill>
                          <a:latin typeface="Calibri" panose="020F0502020204030204"/>
                          <a:ea typeface="Calibri" panose="020F0502020204030204"/>
                        </a:rPr>
                        <a:t>NFR-01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9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0" i="0">
                          <a:solidFill>
                            <a:srgbClr val="7F6000"/>
                          </a:solidFill>
                          <a:latin typeface="Calibri" panose="020F0502020204030204"/>
                          <a:ea typeface="Calibri" panose="020F0502020204030204"/>
                        </a:rPr>
                        <a:t>Non-Functional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1" i="0">
                          <a:solidFill>
                            <a:srgbClr val="7F6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Performance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9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Support at least 1,000 concurrent users without degradation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9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C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High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9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1F4E79"/>
                          </a:solidFill>
                          <a:latin typeface="Calibri" panose="020F0502020204030204"/>
                          <a:ea typeface="Calibri" panose="020F0502020204030204"/>
                        </a:rPr>
                        <a:t>TC-39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Load test 1000 users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9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Run load test with 1,000 concurrent virtual users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9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No errors; response times within limits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9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595959"/>
                          </a:solidFill>
                          <a:latin typeface="Calibri" panose="020F0502020204030204"/>
                          <a:ea typeface="Calibri" panose="020F0502020204030204"/>
                        </a:rPr>
                        <a:t>Not Run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43"/>
                  </a:ext>
                </a:extLst>
              </a:tr>
              <a:tr h="167802"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7F6000"/>
                          </a:solidFill>
                          <a:latin typeface="Calibri" panose="020F0502020204030204"/>
                          <a:ea typeface="Calibri" panose="020F0502020204030204"/>
                        </a:rPr>
                        <a:t>NFR-02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9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0" i="0">
                          <a:solidFill>
                            <a:srgbClr val="7F6000"/>
                          </a:solidFill>
                          <a:latin typeface="Calibri" panose="020F0502020204030204"/>
                          <a:ea typeface="Calibri" panose="020F0502020204030204"/>
                        </a:rPr>
                        <a:t>Non-Functional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1" i="0">
                          <a:solidFill>
                            <a:srgbClr val="7F6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Performance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9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API responses within 2 seconds at 95th percentile under normal load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C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High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1F4E79"/>
                          </a:solidFill>
                          <a:latin typeface="Calibri" panose="020F0502020204030204"/>
                          <a:ea typeface="Calibri" panose="020F0502020204030204"/>
                        </a:rPr>
                        <a:t>TC-40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API response time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Run 500 API requests; measure 95th percentile latency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P95 latency ≤ 2000 ms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595959"/>
                          </a:solidFill>
                          <a:latin typeface="Calibri" panose="020F0502020204030204"/>
                          <a:ea typeface="Calibri" panose="020F0502020204030204"/>
                        </a:rPr>
                        <a:t>Not Run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44"/>
                  </a:ext>
                </a:extLst>
              </a:tr>
              <a:tr h="167802"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7F6000"/>
                          </a:solidFill>
                          <a:latin typeface="Calibri" panose="020F0502020204030204"/>
                          <a:ea typeface="Calibri" panose="020F0502020204030204"/>
                        </a:rPr>
                        <a:t>NFR-03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9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0" i="0">
                          <a:solidFill>
                            <a:srgbClr val="7F6000"/>
                          </a:solidFill>
                          <a:latin typeface="Calibri" panose="020F0502020204030204"/>
                          <a:ea typeface="Calibri" panose="020F0502020204030204"/>
                        </a:rPr>
                        <a:t>Non-Functional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1" i="0">
                          <a:solidFill>
                            <a:srgbClr val="7F6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Performance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9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Map tile rendering within 3 seconds on 4G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9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C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High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9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1F4E79"/>
                          </a:solidFill>
                          <a:latin typeface="Calibri" panose="020F0502020204030204"/>
                          <a:ea typeface="Calibri" panose="020F0502020204030204"/>
                        </a:rPr>
                        <a:t>TC-41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Map load time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9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Load map on 4G-throttled connection; time tile render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9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Map tiles fully rendered within 3 seconds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9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595959"/>
                          </a:solidFill>
                          <a:latin typeface="Calibri" panose="020F0502020204030204"/>
                          <a:ea typeface="Calibri" panose="020F0502020204030204"/>
                        </a:rPr>
                        <a:t>Not Run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45"/>
                  </a:ext>
                </a:extLst>
              </a:tr>
              <a:tr h="167802"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6B1A1A"/>
                          </a:solidFill>
                          <a:latin typeface="Calibri" panose="020F0502020204030204"/>
                          <a:ea typeface="Calibri" panose="020F0502020204030204"/>
                        </a:rPr>
                        <a:t>NFR-04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DEA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0" i="0">
                          <a:solidFill>
                            <a:srgbClr val="7F6000"/>
                          </a:solidFill>
                          <a:latin typeface="Calibri" panose="020F0502020204030204"/>
                          <a:ea typeface="Calibri" panose="020F0502020204030204"/>
                        </a:rPr>
                        <a:t>Non-Functional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1" i="0">
                          <a:solidFill>
                            <a:srgbClr val="6B1A1A"/>
                          </a:solidFill>
                          <a:latin typeface="Calibri" panose="020F0502020204030204"/>
                          <a:ea typeface="Calibri" panose="020F0502020204030204"/>
                        </a:rPr>
                        <a:t>Security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DEAE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All data in transit encrypted with TLS 1.2+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C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High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1F4E79"/>
                          </a:solidFill>
                          <a:latin typeface="Calibri" panose="020F0502020204030204"/>
                          <a:ea typeface="Calibri" panose="020F0502020204030204"/>
                        </a:rPr>
                        <a:t>TC-42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TLS enforcement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Attempt HTTP connection to API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Connection refused or redirected to HTTPS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595959"/>
                          </a:solidFill>
                          <a:latin typeface="Calibri" panose="020F0502020204030204"/>
                          <a:ea typeface="Calibri" panose="020F0502020204030204"/>
                        </a:rPr>
                        <a:t>Not Run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46"/>
                  </a:ext>
                </a:extLst>
              </a:tr>
              <a:tr h="167802"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6B1A1A"/>
                          </a:solidFill>
                          <a:latin typeface="Calibri" panose="020F0502020204030204"/>
                          <a:ea typeface="Calibri" panose="020F0502020204030204"/>
                        </a:rPr>
                        <a:t>NFR-05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DEA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0" i="0">
                          <a:solidFill>
                            <a:srgbClr val="7F6000"/>
                          </a:solidFill>
                          <a:latin typeface="Calibri" panose="020F0502020204030204"/>
                          <a:ea typeface="Calibri" panose="020F0502020204030204"/>
                        </a:rPr>
                        <a:t>Non-Functional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1" i="0">
                          <a:solidFill>
                            <a:srgbClr val="6B1A1A"/>
                          </a:solidFill>
                          <a:latin typeface="Calibri" panose="020F0502020204030204"/>
                          <a:ea typeface="Calibri" panose="020F0502020204030204"/>
                        </a:rPr>
                        <a:t>Security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DEAE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Passwords hashed with bcrypt, min cost factor 10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DEA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C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High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DEA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1F4E79"/>
                          </a:solidFill>
                          <a:latin typeface="Calibri" panose="020F0502020204030204"/>
                          <a:ea typeface="Calibri" panose="020F0502020204030204"/>
                        </a:rPr>
                        <a:t>TC-43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Bcrypt cost factor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DEAE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Inspect stored password hash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DEAE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Hash prefix confirms bcrypt with cost ≥ 10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DEA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595959"/>
                          </a:solidFill>
                          <a:latin typeface="Calibri" panose="020F0502020204030204"/>
                          <a:ea typeface="Calibri" panose="020F0502020204030204"/>
                        </a:rPr>
                        <a:t>Not Run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47"/>
                  </a:ext>
                </a:extLst>
              </a:tr>
              <a:tr h="167802"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6B1A1A"/>
                          </a:solidFill>
                          <a:latin typeface="Calibri" panose="020F0502020204030204"/>
                          <a:ea typeface="Calibri" panose="020F0502020204030204"/>
                        </a:rPr>
                        <a:t>NFR-06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DEA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0" i="0">
                          <a:solidFill>
                            <a:srgbClr val="7F6000"/>
                          </a:solidFill>
                          <a:latin typeface="Calibri" panose="020F0502020204030204"/>
                          <a:ea typeface="Calibri" panose="020F0502020204030204"/>
                        </a:rPr>
                        <a:t>Non-Functional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1" i="0">
                          <a:solidFill>
                            <a:srgbClr val="6B1A1A"/>
                          </a:solidFill>
                          <a:latin typeface="Calibri" panose="020F0502020204030204"/>
                          <a:ea typeface="Calibri" panose="020F0502020204030204"/>
                        </a:rPr>
                        <a:t>Security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DEAE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JWT-based authentication with 1-hour expiry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C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High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1F4E79"/>
                          </a:solidFill>
                          <a:latin typeface="Calibri" panose="020F0502020204030204"/>
                          <a:ea typeface="Calibri" panose="020F0502020204030204"/>
                        </a:rPr>
                        <a:t>TC-44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JWT expiry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Use a token after 1 hour has passed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Request rejected with 401 Unauthorized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595959"/>
                          </a:solidFill>
                          <a:latin typeface="Calibri" panose="020F0502020204030204"/>
                          <a:ea typeface="Calibri" panose="020F0502020204030204"/>
                        </a:rPr>
                        <a:t>Not Run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48"/>
                  </a:ext>
                </a:extLst>
              </a:tr>
              <a:tr h="167802"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6B1A1A"/>
                          </a:solidFill>
                          <a:latin typeface="Calibri" panose="020F0502020204030204"/>
                          <a:ea typeface="Calibri" panose="020F0502020204030204"/>
                        </a:rPr>
                        <a:t>NFR-07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DEA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0" i="0">
                          <a:solidFill>
                            <a:srgbClr val="7F6000"/>
                          </a:solidFill>
                          <a:latin typeface="Calibri" panose="020F0502020204030204"/>
                          <a:ea typeface="Calibri" panose="020F0502020204030204"/>
                        </a:rPr>
                        <a:t>Non-Functional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1" i="0">
                          <a:solidFill>
                            <a:srgbClr val="6B1A1A"/>
                          </a:solidFill>
                          <a:latin typeface="Calibri" panose="020F0502020204030204"/>
                          <a:ea typeface="Calibri" panose="020F0502020204030204"/>
                        </a:rPr>
                        <a:t>Security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DEAE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Rate limiting: max 100 API requests per minute per user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DEA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C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High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DEA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1F4E79"/>
                          </a:solidFill>
                          <a:latin typeface="Calibri" panose="020F0502020204030204"/>
                          <a:ea typeface="Calibri" panose="020F0502020204030204"/>
                        </a:rPr>
                        <a:t>TC-45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Rate limit enforcement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DEAE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Send 101 requests in 1 minute from same user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DEAE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101st request returns 429 Too Many Requests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DEA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595959"/>
                          </a:solidFill>
                          <a:latin typeface="Calibri" panose="020F0502020204030204"/>
                          <a:ea typeface="Calibri" panose="020F0502020204030204"/>
                        </a:rPr>
                        <a:t>Not Run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49"/>
                  </a:ext>
                </a:extLst>
              </a:tr>
              <a:tr h="167802"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6B1A1A"/>
                          </a:solidFill>
                          <a:latin typeface="Calibri" panose="020F0502020204030204"/>
                          <a:ea typeface="Calibri" panose="020F0502020204030204"/>
                        </a:rPr>
                        <a:t>NFR-08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DEA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0" i="0">
                          <a:solidFill>
                            <a:srgbClr val="7F6000"/>
                          </a:solidFill>
                          <a:latin typeface="Calibri" panose="020F0502020204030204"/>
                          <a:ea typeface="Calibri" panose="020F0502020204030204"/>
                        </a:rPr>
                        <a:t>Non-Functional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1" i="0">
                          <a:solidFill>
                            <a:srgbClr val="6B1A1A"/>
                          </a:solidFill>
                          <a:latin typeface="Calibri" panose="020F0502020204030204"/>
                          <a:ea typeface="Calibri" panose="020F0502020204030204"/>
                        </a:rPr>
                        <a:t>Security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DEAE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User location not exposed at street-level precision on public map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C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High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1F4E79"/>
                          </a:solidFill>
                          <a:latin typeface="Calibri" panose="020F0502020204030204"/>
                          <a:ea typeface="Calibri" panose="020F0502020204030204"/>
                        </a:rPr>
                        <a:t>TC-46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Location precision on map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View public map as guest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Pin locations are approximate, not exact street address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595959"/>
                          </a:solidFill>
                          <a:latin typeface="Calibri" panose="020F0502020204030204"/>
                          <a:ea typeface="Calibri" panose="020F0502020204030204"/>
                        </a:rPr>
                        <a:t>Not Run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50"/>
                  </a:ext>
                </a:extLst>
              </a:tr>
              <a:tr h="167802"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2D5986"/>
                          </a:solidFill>
                          <a:latin typeface="Calibri" panose="020F0502020204030204"/>
                          <a:ea typeface="Calibri" panose="020F0502020204030204"/>
                        </a:rPr>
                        <a:t>NFR-09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CE9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0" i="0">
                          <a:solidFill>
                            <a:srgbClr val="7F6000"/>
                          </a:solidFill>
                          <a:latin typeface="Calibri" panose="020F0502020204030204"/>
                          <a:ea typeface="Calibri" panose="020F0502020204030204"/>
                        </a:rPr>
                        <a:t>Non-Functional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1" i="0">
                          <a:solidFill>
                            <a:srgbClr val="2D5986"/>
                          </a:solidFill>
                          <a:latin typeface="Calibri" panose="020F0502020204030204"/>
                          <a:ea typeface="Calibri" panose="020F0502020204030204"/>
                        </a:rPr>
                        <a:t>Reliability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CE9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99.5% uptime measured monthly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CE9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C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High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CE9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1F4E79"/>
                          </a:solidFill>
                          <a:latin typeface="Calibri" panose="020F0502020204030204"/>
                          <a:ea typeface="Calibri" panose="020F0502020204030204"/>
                        </a:rPr>
                        <a:t>TC-47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Uptime monitoring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CE9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Review monthly uptime logs from monitoring tool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CE9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Uptime ≥ 99.5%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CE9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595959"/>
                          </a:solidFill>
                          <a:latin typeface="Calibri" panose="020F0502020204030204"/>
                          <a:ea typeface="Calibri" panose="020F0502020204030204"/>
                        </a:rPr>
                        <a:t>Not Run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51"/>
                  </a:ext>
                </a:extLst>
              </a:tr>
              <a:tr h="167802"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2D5986"/>
                          </a:solidFill>
                          <a:latin typeface="Calibri" panose="020F0502020204030204"/>
                          <a:ea typeface="Calibri" panose="020F0502020204030204"/>
                        </a:rPr>
                        <a:t>NFR-10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CE9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0" i="0">
                          <a:solidFill>
                            <a:srgbClr val="7F6000"/>
                          </a:solidFill>
                          <a:latin typeface="Calibri" panose="020F0502020204030204"/>
                          <a:ea typeface="Calibri" panose="020F0502020204030204"/>
                        </a:rPr>
                        <a:t>Non-Functional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1" i="0">
                          <a:solidFill>
                            <a:srgbClr val="2D5986"/>
                          </a:solidFill>
                          <a:latin typeface="Calibri" panose="020F0502020204030204"/>
                          <a:ea typeface="Calibri" panose="020F0502020204030204"/>
                        </a:rPr>
                        <a:t>Reliability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CE9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Automated database backups every 24 hours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C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High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1F4E79"/>
                          </a:solidFill>
                          <a:latin typeface="Calibri" panose="020F0502020204030204"/>
                          <a:ea typeface="Calibri" panose="020F0502020204030204"/>
                        </a:rPr>
                        <a:t>TC-48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DB backup verification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Check backup logs after 24 hours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Backup file created; restoration test succeeds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595959"/>
                          </a:solidFill>
                          <a:latin typeface="Calibri" panose="020F0502020204030204"/>
                          <a:ea typeface="Calibri" panose="020F0502020204030204"/>
                        </a:rPr>
                        <a:t>Not Run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52"/>
                  </a:ext>
                </a:extLst>
              </a:tr>
              <a:tr h="167802"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4A235A"/>
                          </a:solidFill>
                          <a:latin typeface="Calibri" panose="020F0502020204030204"/>
                          <a:ea typeface="Calibri" panose="020F0502020204030204"/>
                        </a:rPr>
                        <a:t>NFR-12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3E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0" i="0">
                          <a:solidFill>
                            <a:srgbClr val="7F6000"/>
                          </a:solidFill>
                          <a:latin typeface="Calibri" panose="020F0502020204030204"/>
                          <a:ea typeface="Calibri" panose="020F0502020204030204"/>
                        </a:rPr>
                        <a:t>Non-Functional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1" i="0">
                          <a:solidFill>
                            <a:srgbClr val="4A235A"/>
                          </a:solidFill>
                          <a:latin typeface="Calibri" panose="020F0502020204030204"/>
                          <a:ea typeface="Calibri" panose="020F0502020204030204"/>
                        </a:rPr>
                        <a:t>Usability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3E8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New users submit first report within 5 minutes without training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3E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C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High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3E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1F4E79"/>
                          </a:solidFill>
                          <a:latin typeface="Calibri" panose="020F0502020204030204"/>
                          <a:ea typeface="Calibri" panose="020F0502020204030204"/>
                        </a:rPr>
                        <a:t>TC-49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First-time usability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3E8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Give new user an account; time to first report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3E8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Report submitted in under 5 minutes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3E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595959"/>
                          </a:solidFill>
                          <a:latin typeface="Calibri" panose="020F0502020204030204"/>
                          <a:ea typeface="Calibri" panose="020F0502020204030204"/>
                        </a:rPr>
                        <a:t>Not Run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53"/>
                  </a:ext>
                </a:extLst>
              </a:tr>
              <a:tr h="167802"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4A235A"/>
                          </a:solidFill>
                          <a:latin typeface="Calibri" panose="020F0502020204030204"/>
                          <a:ea typeface="Calibri" panose="020F0502020204030204"/>
                        </a:rPr>
                        <a:t>NFR-13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3E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0" i="0">
                          <a:solidFill>
                            <a:srgbClr val="7F6000"/>
                          </a:solidFill>
                          <a:latin typeface="Calibri" panose="020F0502020204030204"/>
                          <a:ea typeface="Calibri" panose="020F0502020204030204"/>
                        </a:rPr>
                        <a:t>Non-Functional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1" i="0">
                          <a:solidFill>
                            <a:srgbClr val="4A235A"/>
                          </a:solidFill>
                          <a:latin typeface="Calibri" panose="020F0502020204030204"/>
                          <a:ea typeface="Calibri" panose="020F0502020204030204"/>
                        </a:rPr>
                        <a:t>Usability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3E8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UI complies with WCAG 2.1 Level AA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C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High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1F4E79"/>
                          </a:solidFill>
                          <a:latin typeface="Calibri" panose="020F0502020204030204"/>
                          <a:ea typeface="Calibri" panose="020F0502020204030204"/>
                        </a:rPr>
                        <a:t>TC-50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Accessibility audit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Run automated accessibility scanner on all screens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Zero Level AA violations reported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595959"/>
                          </a:solidFill>
                          <a:latin typeface="Calibri" panose="020F0502020204030204"/>
                          <a:ea typeface="Calibri" panose="020F0502020204030204"/>
                        </a:rPr>
                        <a:t>Not Run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54"/>
                  </a:ext>
                </a:extLst>
              </a:tr>
              <a:tr h="167802"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2D4A2D"/>
                          </a:solidFill>
                          <a:latin typeface="Calibri" panose="020F0502020204030204"/>
                          <a:ea typeface="Calibri" panose="020F0502020204030204"/>
                        </a:rPr>
                        <a:t>NFR-15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8F5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0" i="0">
                          <a:solidFill>
                            <a:srgbClr val="7F6000"/>
                          </a:solidFill>
                          <a:latin typeface="Calibri" panose="020F0502020204030204"/>
                          <a:ea typeface="Calibri" panose="020F0502020204030204"/>
                        </a:rPr>
                        <a:t>Non-Functional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1" i="0">
                          <a:solidFill>
                            <a:srgbClr val="2D4A2D"/>
                          </a:solidFill>
                          <a:latin typeface="Calibri" panose="020F0502020204030204"/>
                          <a:ea typeface="Calibri" panose="020F0502020204030204"/>
                        </a:rPr>
                        <a:t>Maintainability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8F5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Test coverage ≥ 70%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8F5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C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High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8F5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1F4E79"/>
                          </a:solidFill>
                          <a:latin typeface="Calibri" panose="020F0502020204030204"/>
                          <a:ea typeface="Calibri" panose="020F0502020204030204"/>
                        </a:rPr>
                        <a:t>TC-51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Code coverage report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8F5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Run test suite with coverage reporting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8F5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Coverage report shows ≥ 70%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8F5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595959"/>
                          </a:solidFill>
                          <a:latin typeface="Calibri" panose="020F0502020204030204"/>
                          <a:ea typeface="Calibri" panose="020F0502020204030204"/>
                        </a:rPr>
                        <a:t>Not Run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55"/>
                  </a:ext>
                </a:extLst>
              </a:tr>
              <a:tr h="167802"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2D4A2D"/>
                          </a:solidFill>
                          <a:latin typeface="Calibri" panose="020F0502020204030204"/>
                          <a:ea typeface="Calibri" panose="020F0502020204030204"/>
                        </a:rPr>
                        <a:t>NFR-16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8F5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0" i="0">
                          <a:solidFill>
                            <a:srgbClr val="7F6000"/>
                          </a:solidFill>
                          <a:latin typeface="Calibri" panose="020F0502020204030204"/>
                          <a:ea typeface="Calibri" panose="020F0502020204030204"/>
                        </a:rPr>
                        <a:t>Non-Functional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1" i="0">
                          <a:solidFill>
                            <a:srgbClr val="2D4A2D"/>
                          </a:solidFill>
                          <a:latin typeface="Calibri" panose="020F0502020204030204"/>
                          <a:ea typeface="Calibri" panose="020F0502020204030204"/>
                        </a:rPr>
                        <a:t>Maintainability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8F5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CI/CD pipeline via GitHub Actions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C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High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1F4E79"/>
                          </a:solidFill>
                          <a:latin typeface="Calibri" panose="020F0502020204030204"/>
                          <a:ea typeface="Calibri" panose="020F0502020204030204"/>
                        </a:rPr>
                        <a:t>TC-52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CI/CD pipeline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Push code to main branch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GitHub Actions runs tests and deploys automatically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595959"/>
                          </a:solidFill>
                          <a:latin typeface="Calibri" panose="020F0502020204030204"/>
                          <a:ea typeface="Calibri" panose="020F0502020204030204"/>
                        </a:rPr>
                        <a:t>Not Run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56"/>
                  </a:ext>
                </a:extLst>
              </a:tr>
              <a:tr h="167802"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2D4A2D"/>
                          </a:solidFill>
                          <a:latin typeface="Calibri" panose="020F0502020204030204"/>
                          <a:ea typeface="Calibri" panose="020F0502020204030204"/>
                        </a:rPr>
                        <a:t>NFR-17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8F5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0" i="0">
                          <a:solidFill>
                            <a:srgbClr val="7F6000"/>
                          </a:solidFill>
                          <a:latin typeface="Calibri" panose="020F0502020204030204"/>
                          <a:ea typeface="Calibri" panose="020F0502020204030204"/>
                        </a:rPr>
                        <a:t>Non-Functional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1" i="0">
                          <a:solidFill>
                            <a:srgbClr val="2D4A2D"/>
                          </a:solidFill>
                          <a:latin typeface="Calibri" panose="020F0502020204030204"/>
                          <a:ea typeface="Calibri" panose="020F0502020204030204"/>
                        </a:rPr>
                        <a:t>Maintainability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8F5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All API endpoints documented with Swagger/OpenAPI 3.0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8F5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C07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Medium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8F5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1F4E79"/>
                          </a:solidFill>
                          <a:latin typeface="Calibri" panose="020F0502020204030204"/>
                          <a:ea typeface="Calibri" panose="020F0502020204030204"/>
                        </a:rPr>
                        <a:t>TC-53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Swagger docs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8F5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Open /api-docs endpoint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8F5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" b="0" i="0">
                          <a:solidFill>
                            <a:srgbClr val="2E2E2E"/>
                          </a:solidFill>
                          <a:latin typeface="Calibri" panose="020F0502020204030204"/>
                          <a:ea typeface="Calibri" panose="020F0502020204030204"/>
                        </a:rPr>
                        <a:t>All FR-01–FR-31 endpoints documented with schemas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8F5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" b="1" i="0">
                          <a:solidFill>
                            <a:srgbClr val="595959"/>
                          </a:solidFill>
                          <a:latin typeface="Calibri" panose="020F0502020204030204"/>
                          <a:ea typeface="Calibri" panose="020F0502020204030204"/>
                        </a:rPr>
                        <a:t>Not Run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sz="200" b="0" i="1">
                        <a:solidFill>
                          <a:srgbClr val="777777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57"/>
                  </a:ext>
                </a:extLst>
              </a:tr>
              <a:tr h="167802">
                <a:tc gridSpan="14">
                  <a:txBody>
                    <a:bodyPr/>
                    <a:lstStyle/>
                    <a:p>
                      <a:pPr algn="l" fontAlgn="ctr"/>
                      <a:r>
                        <a:rPr sz="200" b="0" i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★ Tracking columns (navy) — fill during testing:  Test Status: Not Run / In Progress / Passed / Failed / Blocked     Test Result: Pass / Fail / N/A     Defect ID: GitHub issue # or JIRA ticket     Defect Status: None / Open / In Progress / Fixed / Closed     Developer: responsible team member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43F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R>
                      <a:noFill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5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471987" y="1368806"/>
            <a:ext cx="13816013" cy="6676697"/>
            <a:chOff x="0" y="0"/>
            <a:chExt cx="2140462" cy="103439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40462" cy="1034395"/>
            </a:xfrm>
            <a:custGeom>
              <a:avLst/>
              <a:gdLst/>
              <a:ahLst/>
              <a:cxnLst/>
              <a:rect l="l" t="t" r="r" b="b"/>
              <a:pathLst>
                <a:path w="2140462" h="1034395">
                  <a:moveTo>
                    <a:pt x="0" y="0"/>
                  </a:moveTo>
                  <a:lnTo>
                    <a:pt x="2140462" y="0"/>
                  </a:lnTo>
                  <a:lnTo>
                    <a:pt x="2140462" y="1034395"/>
                  </a:lnTo>
                  <a:lnTo>
                    <a:pt x="0" y="1034395"/>
                  </a:lnTo>
                  <a:close/>
                </a:path>
              </a:pathLst>
            </a:custGeom>
            <a:blipFill>
              <a:blip r:embed="rId2"/>
              <a:stretch>
                <a:fillRect l="-1274" r="-1274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210552" y="4308692"/>
            <a:ext cx="6886575" cy="930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000"/>
              </a:lnSpc>
              <a:spcBef>
                <a:spcPct val="0"/>
              </a:spcBef>
            </a:pPr>
            <a:r>
              <a:rPr lang="en-US" sz="7000" b="1" u="none" strike="noStrike" spc="-209">
                <a:solidFill>
                  <a:srgbClr val="004B8D"/>
                </a:solidFill>
                <a:latin typeface="Bricolage Grotesque Semi-Bold" panose="020B0605040402000204"/>
                <a:ea typeface="Bricolage Grotesque Semi-Bold" panose="020B0605040402000204"/>
                <a:cs typeface="Bricolage Grotesque Semi-Bold" panose="020B0605040402000204"/>
                <a:sym typeface="Bricolage Grotesque Semi-Bold" panose="020B0605040402000204"/>
              </a:rPr>
              <a:t>Thank You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1432*791"/>
  <p:tag name="TABLE_ENDDRAG_RECT" val="2*11*1432*791"/>
</p:tagLst>
</file>

<file path=ppt/theme/theme1.xml><?xml version="1.0" encoding="utf-8"?>
<a:theme xmlns:a="http://schemas.openxmlformats.org/drawingml/2006/main" name="Business Cooperate">
  <a:themeElements>
    <a:clrScheme name="Business Cooperat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usiness Cooperate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Business Cooper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2190</Words>
  <Application>Microsoft Office PowerPoint</Application>
  <PresentationFormat>Custom</PresentationFormat>
  <Paragraphs>604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Bricolage Grotesque Semi-Bold</vt:lpstr>
      <vt:lpstr>HK Grotesk Bold</vt:lpstr>
      <vt:lpstr>HK Grotesk</vt:lpstr>
      <vt:lpstr>Calibri</vt:lpstr>
      <vt:lpstr>Bricolage Grotesque Bold</vt:lpstr>
      <vt:lpstr>Arial</vt:lpstr>
      <vt:lpstr>Business Cooperate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CrowdFix Nepal</dc:title>
  <dc:creator/>
  <dc:description>Presentation - CrowdFix Nepal</dc:description>
  <cp:lastModifiedBy>삽코타프라틱</cp:lastModifiedBy>
  <cp:revision>7</cp:revision>
  <dcterms:created xsi:type="dcterms:W3CDTF">2006-08-16T00:00:00Z</dcterms:created>
  <dcterms:modified xsi:type="dcterms:W3CDTF">2026-05-14T06:46:10Z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C251D39BBADC47F1995ED21D268FCA04_12</vt:lpwstr>
  </property>
  <property fmtid="{D5CDD505-2E9C-101B-9397-08002B2CF9AE}" pid="3" name="KSOProductBuildVer">
    <vt:lpwstr>1033-12.9.0.21549</vt:lpwstr>
  </property>
</Properties>
</file>